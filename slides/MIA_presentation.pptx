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charts/chart1.xml" ContentType="application/vnd.openxmlformats-officedocument.drawingml.chart+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7"/>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Mở đầu" id="{476B487B-72C5-E1CD-3E8E-7AE586F5916B}">
          <p14:sldIdLst>
            <p14:sldId id="256"/>
          </p14:sldIdLst>
        </p14:section>
        <p14:section name="Bối cảnh và phương pháp" id="{CF9F4D9C-D81F-56B1-8E4E-53974485F716}">
          <p14:sldIdLst>
            <p14:sldId id="257"/>
            <p14:sldId id="258"/>
            <p14:sldId id="259"/>
            <p14:sldId id="260"/>
          </p14:sldIdLst>
        </p14:section>
        <p14:section name="Kết quả thực nghiệm" id="{2DC96388-7881-7D4D-E822-9FED878B023F}">
          <p14:sldIdLst>
            <p14:sldId id="261"/>
            <p14:sldId id="262"/>
            <p14:sldId id="263"/>
            <p14:sldId id="264"/>
          </p14:sldIdLst>
        </p14:section>
        <p14:section name="Bài học và kết luận" id="{A5CB8328-3910-11D6-087D-D3EDC5B17709}">
          <p14:sldIdLst>
            <p14:sldId id="265"/>
            <p14:sldId id="266"/>
            <p14:sldId id="267"/>
            <p14:sldId id="268"/>
          </p14:sldIdLst>
        </p14:section>
        <p14:section name="Kết thúc" id="{8EE300EF-2DC9-AB1A-21EB-E1553EA10CC4}">
          <p14:sldIdLst>
            <p14:sldId id="269"/>
            <p14:sldId id="270"/>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68" d="100"/>
          <a:sy n="168" d="100"/>
        </p:scale>
        <p:origin x="584" y="19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600" b="0" i="0" u="none" strike="noStrike">
                <a:solidFill>
                  <a:srgbClr val="1F2937"/>
                </a:solidFill>
                <a:latin typeface="Calibri"/>
              </a:defRPr>
            </a:pPr>
            <a:r>
              <a:rPr lang="en-US" sz="1600" b="0" i="0" u="none" strike="noStrike" dirty="0" err="1">
                <a:solidFill>
                  <a:srgbClr val="1F2937"/>
                </a:solidFill>
                <a:latin typeface="Calibri"/>
              </a:rPr>
              <a:t>Phân</a:t>
            </a:r>
            <a:r>
              <a:rPr lang="en-US" sz="1600" b="0" i="0" u="none" strike="noStrike" dirty="0">
                <a:solidFill>
                  <a:srgbClr val="1F2937"/>
                </a:solidFill>
                <a:latin typeface="Calibri"/>
              </a:rPr>
              <a:t> </a:t>
            </a:r>
            <a:r>
              <a:rPr lang="en-US" sz="1600" b="0" i="0" u="none" strike="noStrike" dirty="0" err="1">
                <a:solidFill>
                  <a:srgbClr val="1F2937"/>
                </a:solidFill>
                <a:latin typeface="Calibri"/>
              </a:rPr>
              <a:t>loại</a:t>
            </a:r>
            <a:r>
              <a:rPr lang="en-US" sz="1600" b="0" i="0" u="none" strike="noStrike" dirty="0">
                <a:solidFill>
                  <a:srgbClr val="1F2937"/>
                </a:solidFill>
                <a:latin typeface="Calibri"/>
              </a:rPr>
              <a:t>, </a:t>
            </a:r>
            <a:r>
              <a:rPr lang="en-US" sz="1600" b="0" i="0" u="none" strike="noStrike" dirty="0" err="1">
                <a:solidFill>
                  <a:srgbClr val="1F2937"/>
                </a:solidFill>
                <a:latin typeface="Calibri"/>
              </a:rPr>
              <a:t>tấn</a:t>
            </a:r>
            <a:r>
              <a:rPr lang="en-US" sz="1600" b="0" i="0" u="none" strike="noStrike" dirty="0">
                <a:solidFill>
                  <a:srgbClr val="1F2937"/>
                </a:solidFill>
                <a:latin typeface="Calibri"/>
              </a:rPr>
              <a:t> </a:t>
            </a:r>
            <a:r>
              <a:rPr lang="en-US" sz="1600" b="0" i="0" u="none" strike="noStrike" dirty="0" err="1">
                <a:solidFill>
                  <a:srgbClr val="1F2937"/>
                </a:solidFill>
                <a:latin typeface="Calibri"/>
              </a:rPr>
              <a:t>công</a:t>
            </a:r>
            <a:r>
              <a:rPr lang="en-US" sz="1600" b="0" i="0" u="none" strike="noStrike" dirty="0">
                <a:solidFill>
                  <a:srgbClr val="1F2937"/>
                </a:solidFill>
                <a:latin typeface="Calibri"/>
              </a:rPr>
              <a:t> </a:t>
            </a:r>
            <a:r>
              <a:rPr lang="en-US" sz="1600" b="0" i="0" u="none" strike="noStrike" dirty="0" err="1">
                <a:solidFill>
                  <a:srgbClr val="1F2937"/>
                </a:solidFill>
                <a:latin typeface="Calibri"/>
              </a:rPr>
              <a:t>tốt</a:t>
            </a:r>
            <a:r>
              <a:rPr lang="en-US" sz="1600" b="0" i="0" u="none" strike="noStrike" dirty="0">
                <a:solidFill>
                  <a:srgbClr val="1F2937"/>
                </a:solidFill>
                <a:latin typeface="Calibri"/>
              </a:rPr>
              <a:t> </a:t>
            </a:r>
            <a:r>
              <a:rPr lang="en-US" sz="1600" b="0" i="0" u="none" strike="noStrike" dirty="0" err="1">
                <a:solidFill>
                  <a:srgbClr val="1F2937"/>
                </a:solidFill>
                <a:latin typeface="Calibri"/>
              </a:rPr>
              <a:t>nhất</a:t>
            </a:r>
            <a:r>
              <a:rPr lang="en-US" sz="1600" b="0" i="0" u="none" strike="noStrike" dirty="0">
                <a:solidFill>
                  <a:srgbClr val="1F2937"/>
                </a:solidFill>
                <a:latin typeface="Calibri"/>
              </a:rPr>
              <a:t>: TPR@0,1% FPR (%)</a:t>
            </a:r>
          </a:p>
        </c:rich>
      </c:tx>
      <c:overlay val="0"/>
    </c:title>
    <c:autoTitleDeleted val="0"/>
    <c:plotArea>
      <c:layout/>
      <c:barChart>
        <c:barDir val="bar"/>
        <c:grouping val="clustered"/>
        <c:varyColors val="0"/>
        <c:ser>
          <c:idx val="0"/>
          <c:order val="0"/>
          <c:tx>
            <c:strRef>
              <c:f>Sheet1!$B$1</c:f>
              <c:strCache>
                <c:ptCount val="1"/>
                <c:pt idx="0">
                  <c:v>TPR@0,1% FPR (%)</c:v>
                </c:pt>
              </c:strCache>
            </c:strRef>
          </c:tx>
          <c:spPr>
            <a:solidFill>
              <a:srgbClr val="3D6CB9"/>
            </a:solidFill>
            <a:effectLst/>
          </c:spPr>
          <c:invertIfNegative val="0"/>
          <c:dLbls>
            <c:numFmt formatCode="0.0" sourceLinked="0"/>
            <c:spPr>
              <a:noFill/>
              <a:ln>
                <a:noFill/>
              </a:ln>
              <a:effectLst/>
            </c:spPr>
            <c:txPr>
              <a:bodyPr/>
              <a:lstStyle/>
              <a:p>
                <a:pPr>
                  <a:defRPr sz="1400" b="0" i="0" u="none" strike="noStrike">
                    <a:solidFill>
                      <a:srgbClr val="1F2937"/>
                    </a:solidFill>
                    <a:latin typeface="Calibri"/>
                  </a:defRPr>
                </a:pPr>
                <a:endParaRPr lang="en-VN"/>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LSTM</c:v>
                </c:pt>
                <c:pt idx="1">
                  <c:v>PatchTST</c:v>
                </c:pt>
                <c:pt idx="2">
                  <c:v>iTransformer</c:v>
                </c:pt>
                <c:pt idx="3">
                  <c:v>TCN</c:v>
                </c:pt>
                <c:pt idx="4">
                  <c:v>MOMENT</c:v>
                </c:pt>
              </c:strCache>
            </c:strRef>
          </c:cat>
          <c:val>
            <c:numRef>
              <c:f>Sheet1!$B$2:$B$6</c:f>
              <c:numCache>
                <c:formatCode>General</c:formatCode>
                <c:ptCount val="5"/>
                <c:pt idx="0">
                  <c:v>0.61</c:v>
                </c:pt>
                <c:pt idx="1">
                  <c:v>1.84</c:v>
                </c:pt>
                <c:pt idx="2">
                  <c:v>7.73</c:v>
                </c:pt>
                <c:pt idx="3">
                  <c:v>8.17</c:v>
                </c:pt>
                <c:pt idx="4">
                  <c:v>9.92</c:v>
                </c:pt>
              </c:numCache>
            </c:numRef>
          </c:val>
          <c:extLst>
            <c:ext xmlns:c16="http://schemas.microsoft.com/office/drawing/2014/chart" uri="{C3380CC4-5D6E-409C-BE32-E72D297353CC}">
              <c16:uniqueId val="{00000000-6B52-8E49-A5D3-14C199987069}"/>
            </c:ext>
          </c:extLst>
        </c:ser>
        <c:dLbls>
          <c:showLegendKey val="0"/>
          <c:showVal val="1"/>
          <c:showCatName val="0"/>
          <c:showSerName val="0"/>
          <c:showPercent val="0"/>
          <c:showBubbleSize val="0"/>
        </c:dLbls>
        <c:gapWidth val="45"/>
        <c:axId val="2094734554"/>
        <c:axId val="2094734552"/>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400" b="0" i="0" u="none" strike="noStrike">
                <a:solidFill>
                  <a:srgbClr val="1F2937"/>
                </a:solidFill>
                <a:latin typeface="Calibri"/>
              </a:defRPr>
            </a:pPr>
            <a:endParaRPr lang="en-US"/>
          </a:p>
        </c:txPr>
        <c:crossAx val="2094734552"/>
        <c:crosses val="autoZero"/>
        <c:auto val="1"/>
        <c:lblAlgn val="ctr"/>
        <c:lblOffset val="100"/>
        <c:noMultiLvlLbl val="1"/>
      </c:catAx>
      <c:valAx>
        <c:axId val="2094734552"/>
        <c:scaling>
          <c:orientation val="minMax"/>
          <c:max val="12"/>
          <c:min val="0"/>
        </c:scaling>
        <c:delete val="1"/>
        <c:axPos val="t"/>
        <c:numFmt formatCode="General" sourceLinked="0"/>
        <c:majorTickMark val="out"/>
        <c:minorTickMark val="none"/>
        <c:tickLblPos val="low"/>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19888422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(0,5 phút) Chào hội đồng, giới thiệu đề tài, giảng viên hướng dẫn và nhóm. Câu hỏi xuyên suốt: một mô hình học sâu huấn luyện trên ECG có làm lộ bệnh nhân nào nằm trong tập huấn luyện không.</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Chuyển phần.</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 phút) MIA đặc biệt đáng lo với dữ liệu y tế (GDPR, HIPAA). MIA đã được nghiên cứu nhiều trên ảnh và bảng, ít trên chuỗi thời gian. Hai khoảng trống dẫn tới hai câu hỏi RQ1 và RQ2, ta sẽ quay lại trả lời từng câu ở phần kết quả.</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 phút) Dùng các bản ghi có đúng một siêu lớp chẩn đoán. Chia record-level thành member và non-member. Chọn TPR tại 0,1% FPR vì AUC cao có thể chỉ đến từ vùng FPR cao, không có giá trị thực tế: kẻ tấn công cần nhận đúng với rất ít báo động nhầm. Temporal cần nhãn member/non-member và checkpoint nên không so ngang hàng với black-box.</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 phút) Từ đơn giản đến mạnh: Loss/Conf/Entropy, rồi LiRA và RMIA dùng shadow model, cuối cùng Temporal ở chế độ gray-box. Kết quả sẽ cho thấy không có họ nào thắng ở mọi cấu hình.</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Chuyển phần.</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 phút) Ở phân loại, tấn công tốt nhất cho thấy hai nhóm: LSTM và PatchTST thấp, còn TCN, iTransformer, MOMENT cao hơn 4 đến 16 lần. CI của ba mô hình sau chồng lấn nên không xếp hạng được giữa chúng. Điểm chính: accuracy gần như bằng nhau nhưng mức rò rỉ rất khác, nên không thể suy ra quyền riêng tư từ độ chính xác.</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 phút) RQ1: không có chiều hướng nhất quán giữa kiến trúc hiện đại và baseline. Gap khớp thứ tự ở phân loại nhưng không giải thích được iTransformer (gap lớn nhưng điểm số bão hòa, utility kém) hay TCN dự báo (gap nhỏ nhưng vẫn rò rỉ). Gap là điều kiện cần cho tấn công điểm số đơn giản, nhưng tấn công hiệu chỉnh theo độ khó rò rỉ được cả khi gap nhỏ. Lưu ý các mô hình không được so ở cùng gap.</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 phút) Trả lời RQ2. Dự báo trả về 12x96 giá trị liên tục nên là tín hiệu ghi nhớ dày hơn 5 xác suất dễ bão hòa của phân loại. Lưu ý: hệ số × phụ thuộc mẫu số (LSTM 21× chỉ vì phân loại chỉ 0,6%); xét mức tăng tuyệt đối thì MOMENT +87,7 điểm phần trăm. Với iTransformer hai CI chồng lấn nên chưa chứng minh được. Cũng cần nhắc LSTM, TCN, PatchTST dự báo huấn luyện 50 epoch so với 20 epoch của phân loại.</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Chuyển phần.</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 phút) Thông điệp thực hành: một hệ thống chỉ kiểm bằng Loss có thể bị tuyên bố an toàn sai. Báo cáo TPR phải đi kèm kiểm tra phân phối điểm số: iTransformer có 97,2% member bão hòa tại điểm cực trị, TCN RMIA-online suy biến, nên TPR không phản ánh đúng sức mạnh tấn công. Với mô hình dự báo và foundation model fine-tune trên dữ liệu y tế cần đo lại sau khi áp dụng biện pháp bảo vệ.</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 phút) Nhấn mạnh mức độ chắc chắn: kết luận dự báo hơn phân loại chắc với LSTM, PatchTST, MOMENT, yếu với TCN và iTransformer. Hạn chế chính: một seed, TPR@0,1% có độ phân giải thấp với 7.636 non-member. Hướng tiếp: huấn luyện nhiều seed, đối chứng cho MOMENT, chia theo bệnh nhân, thêm UCI HAR và ETTh1, đánh giá DP-SGD.</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(0,5 phút) Mỗi thành viên chịu trách nhiệm toàn bộ pipeline cho một họ mô hình: An làm LSTM và TCN, Hoàng làm PatchTST, Tuấn làm iTransformer, Ngọc làm MOMENT. Tất cả dùng chung dữ liệu, cách chia và bộ đánh giá nên kết quả so sánh được.</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Danh sách tài liệu trích dẫn trong slide, đánh số theo thứ tự xuất hiện. Đầy đủ hơn xem references.bib trong báo cáo.</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Dự phòng cho Q&amp;A: các hình theo từng mô hình (fig2, fig3, fig5, fig6, fig7) trong report/figures.</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ARK">
    <p:bg>
      <p:bgPr>
        <a:solidFill>
          <a:srgbClr val="FFFFFF"/>
        </a:solidFill>
        <a:effectLst/>
      </p:bgPr>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229600" y="4773168"/>
            <a:ext cx="548640" cy="274320"/>
          </a:xfrm>
          <a:prstGeom prst="rect">
            <a:avLst/>
          </a:prstGeom>
          <a:extLst>
            <a:ext uri="{C572A759-6A51-4108-AA02-DFA0A04FC94B}">
              <ma14:wrappingTextBoxFlag xmlns:ma14="http://schemas.microsoft.com/office/mac/drawingml/2011/main" xmlns="" val="0"/>
            </a:ext>
          </a:extLst>
        </p:spPr>
        <p:txBody>
          <a:bodyPr/>
          <a:lstStyle>
            <a:lvl1pPr>
              <a:defRPr sz="1200">
                <a:solidFill>
                  <a:srgbClr val="6B7280"/>
                </a:solidFill>
                <a:latin typeface="Calibri"/>
                <a:ea typeface="Calibri"/>
                <a:cs typeface="Calibri"/>
              </a:defRPr>
            </a:lvl1pPr>
          </a:lstStyle>
          <a:p>
            <a:pPr algn="r"/>
            <a:fld id="{F7021451-1387-4CA6-816F-3879F97B5CBC}" type="slidenum">
              <a:rPr lang="en-US" b="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LIGHT">
    <p:bg>
      <p:bgPr>
        <a:solidFill>
          <a:srgbClr val="FFFFFF"/>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685800"/>
          </a:xfrm>
          <a:prstGeom prst="rect">
            <a:avLst/>
          </a:prstGeom>
          <a:noFill/>
          <a:ln/>
        </p:spPr>
        <p:txBody>
          <a:bodyPr wrap="square" rtlCol="0"/>
          <a:lstStyle>
            <a:lvl1pPr marL="0" indent="0">
              <a:buNone/>
              <a:defRPr lang="en-US" sz="3000" b="1" dirty="0">
                <a:solidFill>
                  <a:srgbClr val="0B2545"/>
                </a:solidFill>
                <a:latin typeface="Cambria" pitchFamily="34" charset="0"/>
                <a:ea typeface="Cambria" pitchFamily="34" charset="-122"/>
                <a:cs typeface="Cambria" pitchFamily="34" charset="-120"/>
              </a:defRPr>
            </a:lvl1pPr>
          </a:lstStyle>
          <a:p>
            <a:pPr marL="0" indent="0">
              <a:buNone/>
            </a:pPr>
            <a:endParaRPr lang="en-US" sz="3000" dirty="0"/>
          </a:p>
        </p:txBody>
      </p:sp>
      <p:sp>
        <p:nvSpPr>
          <p:cNvPr id="25" name="Slide Number Placeholder 0"/>
          <p:cNvSpPr>
            <a:spLocks noGrp="1"/>
          </p:cNvSpPr>
          <p:nvPr>
            <p:ph type="sldNum" sz="quarter" idx="4294967295"/>
          </p:nvPr>
        </p:nvSpPr>
        <p:spPr>
          <a:xfrm>
            <a:off x="8229600" y="4773168"/>
            <a:ext cx="548640" cy="274320"/>
          </a:xfrm>
          <a:prstGeom prst="rect">
            <a:avLst/>
          </a:prstGeom>
          <a:extLst>
            <a:ext uri="{C572A759-6A51-4108-AA02-DFA0A04FC94B}">
              <ma14:wrappingTextBoxFlag xmlns:ma14="http://schemas.microsoft.com/office/mac/drawingml/2011/main" xmlns="" val="0"/>
            </a:ext>
          </a:extLst>
        </p:spPr>
        <p:txBody>
          <a:bodyPr/>
          <a:lstStyle>
            <a:lvl1pPr>
              <a:defRPr sz="1200">
                <a:solidFill>
                  <a:srgbClr val="6B7280"/>
                </a:solidFill>
                <a:latin typeface="Calibri"/>
                <a:ea typeface="Calibri"/>
                <a:cs typeface="Calibri"/>
              </a:defRPr>
            </a:lvl1pPr>
          </a:lstStyle>
          <a:p>
            <a:pPr algn="r"/>
            <a:fld id="{F7021451-1387-4CA6-816F-3879F97B5CBC}" type="slidenum">
              <a:rPr lang="en-US" b="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229600" y="4773168"/>
            <a:ext cx="548640" cy="274320"/>
          </a:xfrm>
          <a:prstGeom prst="rect">
            <a:avLst/>
          </a:prstGeom>
          <a:extLst>
            <a:ext uri="{C572A759-6A51-4108-AA02-DFA0A04FC94B}">
              <ma14:wrappingTextBoxFlag xmlns:ma14="http://schemas.microsoft.com/office/mac/drawingml/2011/main" xmlns="" val="0"/>
            </a:ext>
          </a:extLst>
        </p:spPr>
        <p:txBody>
          <a:bodyPr/>
          <a:lstStyle>
            <a:lvl1pPr>
              <a:defRPr sz="1200">
                <a:solidFill>
                  <a:srgbClr val="6B7280"/>
                </a:solidFill>
                <a:latin typeface="Calibri"/>
                <a:ea typeface="Calibri"/>
                <a:cs typeface="Calibri"/>
              </a:defRPr>
            </a:lvl1pPr>
          </a:lstStyle>
          <a:p>
            <a:pPr algn="r"/>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731520" y="365760"/>
            <a:ext cx="7680960" cy="320040"/>
          </a:xfrm>
          <a:prstGeom prst="rect">
            <a:avLst/>
          </a:prstGeom>
          <a:noFill/>
          <a:ln/>
        </p:spPr>
        <p:txBody>
          <a:bodyPr wrap="square" lIns="0" tIns="0" rIns="0" bIns="0" rtlCol="0" anchor="ctr"/>
          <a:lstStyle/>
          <a:p>
            <a:pPr marL="0" indent="0">
              <a:buNone/>
            </a:pPr>
            <a:r>
              <a:rPr lang="en-US" sz="1400" dirty="0">
                <a:solidFill>
                  <a:srgbClr val="4B5B73"/>
                </a:solidFill>
                <a:latin typeface="Calibri" pitchFamily="34" charset="0"/>
                <a:ea typeface="Calibri" pitchFamily="34" charset="-122"/>
                <a:cs typeface="Calibri" pitchFamily="34" charset="-120"/>
              </a:rPr>
              <a:t>ĐH Khoa học Tự nhiên, ĐHQG-HCM · Môn An toàn &amp; Bảo mật Hệ thống Thông tin</a:t>
            </a:r>
            <a:endParaRPr lang="en-US" sz="1400" dirty="0"/>
          </a:p>
        </p:txBody>
      </p:sp>
      <p:sp>
        <p:nvSpPr>
          <p:cNvPr id="3" name="Text 1"/>
          <p:cNvSpPr txBox="1"/>
          <p:nvPr/>
        </p:nvSpPr>
        <p:spPr>
          <a:xfrm>
            <a:off x="731520" y="822960"/>
            <a:ext cx="7680960" cy="365760"/>
          </a:xfrm>
          <a:prstGeom prst="rect">
            <a:avLst/>
          </a:prstGeom>
          <a:noFill/>
          <a:ln/>
        </p:spPr>
        <p:txBody>
          <a:bodyPr wrap="square" lIns="0" tIns="0" rIns="0" bIns="0" rtlCol="0" anchor="ctr"/>
          <a:lstStyle/>
          <a:p>
            <a:pPr marL="0" indent="0">
              <a:buNone/>
            </a:pPr>
            <a:r>
              <a:rPr lang="en-US" sz="1600" b="1" kern="0" spc="200" dirty="0">
                <a:solidFill>
                  <a:srgbClr val="E4572E"/>
                </a:solidFill>
                <a:latin typeface="Calibri" pitchFamily="34" charset="0"/>
                <a:ea typeface="Calibri" pitchFamily="34" charset="-122"/>
                <a:cs typeface="Calibri" pitchFamily="34" charset="-120"/>
              </a:rPr>
              <a:t>MEMBERSHIP INTERFERENCE ATTACK</a:t>
            </a:r>
            <a:endParaRPr lang="en-US" sz="1600" dirty="0"/>
          </a:p>
        </p:txBody>
      </p:sp>
      <p:sp>
        <p:nvSpPr>
          <p:cNvPr id="4" name="Text 2"/>
          <p:cNvSpPr txBox="1"/>
          <p:nvPr/>
        </p:nvSpPr>
        <p:spPr>
          <a:xfrm>
            <a:off x="731520" y="1234440"/>
            <a:ext cx="7680960" cy="1280160"/>
          </a:xfrm>
          <a:prstGeom prst="rect">
            <a:avLst/>
          </a:prstGeom>
          <a:noFill/>
          <a:ln/>
        </p:spPr>
        <p:txBody>
          <a:bodyPr wrap="square" lIns="0" tIns="0" rIns="0" bIns="0" rtlCol="0" anchor="t"/>
          <a:lstStyle/>
          <a:p>
            <a:pPr marL="0" indent="0">
              <a:buNone/>
            </a:pPr>
            <a:r>
              <a:rPr lang="en-US" sz="3800" b="1" dirty="0" err="1">
                <a:solidFill>
                  <a:srgbClr val="0B2545"/>
                </a:solidFill>
                <a:latin typeface="Cambria" pitchFamily="34" charset="0"/>
                <a:ea typeface="Cambria" pitchFamily="34" charset="-122"/>
                <a:cs typeface="Cambria" pitchFamily="34" charset="-120"/>
              </a:rPr>
              <a:t>Đánh</a:t>
            </a:r>
            <a:r>
              <a:rPr lang="en-US" sz="3800" b="1" dirty="0">
                <a:solidFill>
                  <a:srgbClr val="0B2545"/>
                </a:solidFill>
                <a:latin typeface="Cambria" pitchFamily="34" charset="0"/>
                <a:ea typeface="Cambria" pitchFamily="34" charset="-122"/>
                <a:cs typeface="Cambria" pitchFamily="34" charset="-120"/>
              </a:rPr>
              <a:t> </a:t>
            </a:r>
            <a:r>
              <a:rPr lang="en-US" sz="3800" b="1" dirty="0" err="1">
                <a:solidFill>
                  <a:srgbClr val="0B2545"/>
                </a:solidFill>
                <a:latin typeface="Cambria" pitchFamily="34" charset="0"/>
                <a:ea typeface="Cambria" pitchFamily="34" charset="-122"/>
                <a:cs typeface="Cambria" pitchFamily="34" charset="-120"/>
              </a:rPr>
              <a:t>giá</a:t>
            </a:r>
            <a:r>
              <a:rPr lang="en-US" sz="3800" b="1" dirty="0">
                <a:solidFill>
                  <a:srgbClr val="0B2545"/>
                </a:solidFill>
                <a:latin typeface="Cambria" pitchFamily="34" charset="0"/>
                <a:ea typeface="Cambria" pitchFamily="34" charset="-122"/>
                <a:cs typeface="Cambria" pitchFamily="34" charset="-120"/>
              </a:rPr>
              <a:t> </a:t>
            </a:r>
            <a:r>
              <a:rPr lang="en-US" sz="3800" b="1" dirty="0" err="1">
                <a:solidFill>
                  <a:srgbClr val="0B2545"/>
                </a:solidFill>
                <a:latin typeface="Cambria" pitchFamily="34" charset="0"/>
                <a:ea typeface="Cambria" pitchFamily="34" charset="-122"/>
                <a:cs typeface="Cambria" pitchFamily="34" charset="-120"/>
              </a:rPr>
              <a:t>mô</a:t>
            </a:r>
            <a:r>
              <a:rPr lang="en-US" sz="3800" b="1" dirty="0">
                <a:solidFill>
                  <a:srgbClr val="0B2545"/>
                </a:solidFill>
                <a:latin typeface="Cambria" pitchFamily="34" charset="0"/>
                <a:ea typeface="Cambria" pitchFamily="34" charset="-122"/>
                <a:cs typeface="Cambria" pitchFamily="34" charset="-120"/>
              </a:rPr>
              <a:t> hình chuỗi thời gian có làm lộ dữ liệu ECG?</a:t>
            </a:r>
            <a:endParaRPr lang="en-US" sz="3800" dirty="0"/>
          </a:p>
        </p:txBody>
      </p:sp>
      <p:sp>
        <p:nvSpPr>
          <p:cNvPr id="5" name="Text 3"/>
          <p:cNvSpPr txBox="1"/>
          <p:nvPr/>
        </p:nvSpPr>
        <p:spPr>
          <a:xfrm>
            <a:off x="731520" y="2606040"/>
            <a:ext cx="7680960" cy="640080"/>
          </a:xfrm>
          <a:prstGeom prst="rect">
            <a:avLst/>
          </a:prstGeom>
          <a:noFill/>
          <a:ln/>
        </p:spPr>
        <p:txBody>
          <a:bodyPr wrap="square" lIns="0" tIns="0" rIns="0" bIns="0" rtlCol="0" anchor="t"/>
          <a:lstStyle/>
          <a:p>
            <a:pPr marL="0" indent="0">
              <a:buNone/>
            </a:pPr>
            <a:endParaRPr lang="en-US" sz="1800" dirty="0"/>
          </a:p>
        </p:txBody>
      </p:sp>
      <p:sp>
        <p:nvSpPr>
          <p:cNvPr id="6" name="Text 4"/>
          <p:cNvSpPr txBox="1"/>
          <p:nvPr/>
        </p:nvSpPr>
        <p:spPr>
          <a:xfrm>
            <a:off x="731520" y="3429000"/>
            <a:ext cx="3657600" cy="320040"/>
          </a:xfrm>
          <a:prstGeom prst="rect">
            <a:avLst/>
          </a:prstGeom>
          <a:noFill/>
          <a:ln/>
        </p:spPr>
        <p:txBody>
          <a:bodyPr wrap="square" lIns="0" tIns="0" rIns="0" bIns="0" rtlCol="0" anchor="ctr"/>
          <a:lstStyle/>
          <a:p>
            <a:pPr marL="0" indent="0">
              <a:buNone/>
            </a:pPr>
            <a:r>
              <a:rPr lang="en-US" sz="1600" b="1" dirty="0">
                <a:solidFill>
                  <a:srgbClr val="E4572E"/>
                </a:solidFill>
                <a:latin typeface="Calibri" pitchFamily="34" charset="0"/>
                <a:ea typeface="Calibri" pitchFamily="34" charset="-122"/>
                <a:cs typeface="Calibri" pitchFamily="34" charset="-120"/>
              </a:rPr>
              <a:t>Giảng viên hướng dẫn</a:t>
            </a:r>
            <a:endParaRPr lang="en-US" sz="1600" dirty="0"/>
          </a:p>
        </p:txBody>
      </p:sp>
      <p:sp>
        <p:nvSpPr>
          <p:cNvPr id="7" name="Text 5"/>
          <p:cNvSpPr txBox="1"/>
          <p:nvPr/>
        </p:nvSpPr>
        <p:spPr>
          <a:xfrm>
            <a:off x="731520" y="3794760"/>
            <a:ext cx="3657600" cy="868680"/>
          </a:xfrm>
          <a:prstGeom prst="rect">
            <a:avLst/>
          </a:prstGeom>
          <a:noFill/>
          <a:ln/>
        </p:spPr>
        <p:txBody>
          <a:bodyPr wrap="square" lIns="0" tIns="0" rIns="0" bIns="0" rtlCol="0" anchor="t"/>
          <a:lstStyle/>
          <a:p>
            <a:pPr marL="0" indent="0">
              <a:buNone/>
            </a:pPr>
            <a:r>
              <a:rPr lang="en-US" sz="1500" dirty="0">
                <a:solidFill>
                  <a:srgbClr val="0B2545"/>
                </a:solidFill>
                <a:latin typeface="Calibri" pitchFamily="34" charset="0"/>
                <a:ea typeface="Calibri" pitchFamily="34" charset="-122"/>
                <a:cs typeface="Calibri" pitchFamily="34" charset="-120"/>
              </a:rPr>
              <a:t>PGS.TS. Đặng Trần Khánh</a:t>
            </a:r>
            <a:endParaRPr lang="en-US" sz="1500" dirty="0"/>
          </a:p>
          <a:p>
            <a:pPr marL="0" indent="0">
              <a:buNone/>
            </a:pPr>
            <a:r>
              <a:rPr lang="en-US" sz="1500" dirty="0">
                <a:solidFill>
                  <a:srgbClr val="0B2545"/>
                </a:solidFill>
                <a:latin typeface="Calibri" pitchFamily="34" charset="0"/>
                <a:ea typeface="Calibri" pitchFamily="34" charset="-122"/>
                <a:cs typeface="Calibri" pitchFamily="34" charset="-120"/>
              </a:rPr>
              <a:t>TS. Phạm Thị Bạch Huệ</a:t>
            </a:r>
            <a:endParaRPr lang="en-US" sz="1500" dirty="0"/>
          </a:p>
          <a:p>
            <a:pPr marL="0" indent="0">
              <a:buNone/>
            </a:pPr>
            <a:r>
              <a:rPr lang="en-US" sz="1500" dirty="0">
                <a:solidFill>
                  <a:srgbClr val="0B2545"/>
                </a:solidFill>
                <a:latin typeface="Calibri" pitchFamily="34" charset="0"/>
                <a:ea typeface="Calibri" pitchFamily="34" charset="-122"/>
                <a:cs typeface="Calibri" pitchFamily="34" charset="-120"/>
              </a:rPr>
              <a:t>ThS. Lương Vĩ Minh</a:t>
            </a:r>
            <a:endParaRPr lang="en-US" sz="1500" dirty="0"/>
          </a:p>
        </p:txBody>
      </p:sp>
      <p:sp>
        <p:nvSpPr>
          <p:cNvPr id="8" name="Text 6"/>
          <p:cNvSpPr txBox="1"/>
          <p:nvPr/>
        </p:nvSpPr>
        <p:spPr>
          <a:xfrm>
            <a:off x="4572000" y="3429000"/>
            <a:ext cx="3840480" cy="320040"/>
          </a:xfrm>
          <a:prstGeom prst="rect">
            <a:avLst/>
          </a:prstGeom>
          <a:noFill/>
          <a:ln/>
        </p:spPr>
        <p:txBody>
          <a:bodyPr wrap="square" lIns="0" tIns="0" rIns="0" bIns="0" rtlCol="0" anchor="ctr"/>
          <a:lstStyle/>
          <a:p>
            <a:pPr marL="0" indent="0">
              <a:buNone/>
            </a:pPr>
            <a:r>
              <a:rPr lang="en-US" sz="1600" b="1" dirty="0">
                <a:solidFill>
                  <a:srgbClr val="E4572E"/>
                </a:solidFill>
                <a:latin typeface="Calibri" pitchFamily="34" charset="0"/>
                <a:cs typeface="Calibri" pitchFamily="34" charset="-120"/>
              </a:rPr>
              <a:t>Thành </a:t>
            </a:r>
            <a:r>
              <a:rPr lang="en-US" sz="1600" b="1" dirty="0" err="1">
                <a:solidFill>
                  <a:srgbClr val="E4572E"/>
                </a:solidFill>
                <a:latin typeface="Calibri" pitchFamily="34" charset="0"/>
                <a:cs typeface="Calibri" pitchFamily="34" charset="-120"/>
              </a:rPr>
              <a:t>viên</a:t>
            </a:r>
            <a:r>
              <a:rPr lang="en-US" sz="1600" b="1" dirty="0">
                <a:solidFill>
                  <a:srgbClr val="E4572E"/>
                </a:solidFill>
                <a:latin typeface="Calibri" pitchFamily="34" charset="0"/>
                <a:cs typeface="Calibri" pitchFamily="34" charset="-120"/>
              </a:rPr>
              <a:t> </a:t>
            </a:r>
            <a:r>
              <a:rPr lang="en-US" sz="1600" b="1" dirty="0" err="1">
                <a:solidFill>
                  <a:srgbClr val="E4572E"/>
                </a:solidFill>
                <a:latin typeface="Calibri" pitchFamily="34" charset="0"/>
                <a:cs typeface="Calibri" pitchFamily="34" charset="-120"/>
              </a:rPr>
              <a:t>nhóm</a:t>
            </a:r>
            <a:r>
              <a:rPr lang="en-US" sz="1600" b="1" dirty="0">
                <a:solidFill>
                  <a:srgbClr val="E4572E"/>
                </a:solidFill>
                <a:latin typeface="Calibri" pitchFamily="34" charset="0"/>
                <a:cs typeface="Calibri" pitchFamily="34" charset="-120"/>
              </a:rPr>
              <a:t> 8:</a:t>
            </a:r>
            <a:endParaRPr lang="en-US" sz="1600" dirty="0"/>
          </a:p>
        </p:txBody>
      </p:sp>
      <p:sp>
        <p:nvSpPr>
          <p:cNvPr id="9" name="Text 7"/>
          <p:cNvSpPr txBox="1"/>
          <p:nvPr/>
        </p:nvSpPr>
        <p:spPr>
          <a:xfrm>
            <a:off x="4572000" y="3794760"/>
            <a:ext cx="3840480" cy="868680"/>
          </a:xfrm>
          <a:prstGeom prst="rect">
            <a:avLst/>
          </a:prstGeom>
          <a:noFill/>
          <a:ln/>
        </p:spPr>
        <p:txBody>
          <a:bodyPr wrap="square" lIns="0" tIns="0" rIns="0" bIns="0" rtlCol="0" anchor="t"/>
          <a:lstStyle/>
          <a:p>
            <a:pPr marL="0" indent="0">
              <a:buNone/>
            </a:pPr>
            <a:r>
              <a:rPr lang="en-US" sz="1500" dirty="0">
                <a:solidFill>
                  <a:srgbClr val="0B2545"/>
                </a:solidFill>
                <a:latin typeface="Calibri" pitchFamily="34" charset="0"/>
                <a:ea typeface="Calibri" pitchFamily="34" charset="-122"/>
                <a:cs typeface="Calibri" pitchFamily="34" charset="-120"/>
              </a:rPr>
              <a:t>25C12008 – Lê Thành Ngọc</a:t>
            </a:r>
            <a:endParaRPr lang="en-US" sz="1500" dirty="0"/>
          </a:p>
          <a:p>
            <a:pPr marL="0" indent="0">
              <a:buNone/>
            </a:pPr>
            <a:r>
              <a:rPr lang="en-US" sz="1500" dirty="0">
                <a:solidFill>
                  <a:srgbClr val="0B2545"/>
                </a:solidFill>
                <a:latin typeface="Calibri" pitchFamily="34" charset="0"/>
                <a:ea typeface="Calibri" pitchFamily="34" charset="-122"/>
                <a:cs typeface="Calibri" pitchFamily="34" charset="-120"/>
              </a:rPr>
              <a:t>25C01025 – Cao Anh Tuấn</a:t>
            </a:r>
            <a:endParaRPr lang="en-US" sz="1500" dirty="0"/>
          </a:p>
          <a:p>
            <a:pPr marL="0" indent="0">
              <a:buNone/>
            </a:pPr>
            <a:r>
              <a:rPr lang="en-US" sz="1500" dirty="0">
                <a:solidFill>
                  <a:srgbClr val="0B2545"/>
                </a:solidFill>
                <a:latin typeface="Calibri" pitchFamily="34" charset="0"/>
                <a:ea typeface="Calibri" pitchFamily="34" charset="-122"/>
                <a:cs typeface="Calibri" pitchFamily="34" charset="-120"/>
              </a:rPr>
              <a:t>25C12018 – Bùi Lê Hoài An</a:t>
            </a:r>
            <a:endParaRPr lang="en-US" sz="1500" dirty="0"/>
          </a:p>
          <a:p>
            <a:pPr marL="0" indent="0">
              <a:buNone/>
            </a:pPr>
            <a:r>
              <a:rPr lang="en-US" sz="1500" dirty="0">
                <a:solidFill>
                  <a:srgbClr val="0B2545"/>
                </a:solidFill>
                <a:latin typeface="Calibri" pitchFamily="34" charset="0"/>
                <a:ea typeface="Calibri" pitchFamily="34" charset="-122"/>
                <a:cs typeface="Calibri" pitchFamily="34" charset="-120"/>
              </a:rPr>
              <a:t>25C12022 – Trần Trọng Hoàng</a:t>
            </a:r>
            <a:endParaRPr lang="en-US" sz="1500" dirty="0"/>
          </a:p>
        </p:txBody>
      </p:sp>
      <p:sp>
        <p:nvSpPr>
          <p:cNvPr id="25" name="Slide Number Placeholder 0"/>
          <p:cNvSpPr>
            <a:spLocks noGrp="1"/>
          </p:cNvSpPr>
          <p:nvPr>
            <p:ph type="sldNum" sz="quarter" idx="4294967295"/>
          </p:nvPr>
        </p:nvSpPr>
        <p:spPr>
          <a:xfrm>
            <a:off x="8229600" y="4773168"/>
            <a:ext cx="548640" cy="274320"/>
          </a:xfrm>
          <a:prstGeom prst="rect">
            <a:avLst/>
          </a:prstGeom>
          <a:extLst>
            <a:ext uri="{C572A759-6A51-4108-AA02-DFA0A04FC94B}">
              <ma14:wrappingTextBoxFlag xmlns:ma14="http://schemas.microsoft.com/office/mac/drawingml/2011/main" xmlns="" val="0"/>
            </a:ext>
          </a:extLst>
        </p:spPr>
        <p:txBody>
          <a:bodyPr/>
          <a:lstStyle>
            <a:lvl1pPr>
              <a:defRPr sz="1200">
                <a:solidFill>
                  <a:srgbClr val="6B7280"/>
                </a:solidFill>
                <a:latin typeface="Calibri"/>
                <a:ea typeface="Calibri"/>
                <a:cs typeface="Calibri"/>
              </a:defRPr>
            </a:lvl1pPr>
          </a:lstStyle>
          <a:p>
            <a:pPr algn="r"/>
            <a:fld id="{F7021451-1387-4CA6-816F-3879F97B5CBC}" type="slidenum">
              <a:rPr lang="en-US" b="0"/>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txBox="1"/>
          <p:nvPr/>
        </p:nvSpPr>
        <p:spPr>
          <a:xfrm>
            <a:off x="731520" y="1188720"/>
            <a:ext cx="2743200" cy="1188720"/>
          </a:xfrm>
          <a:prstGeom prst="rect">
            <a:avLst/>
          </a:prstGeom>
          <a:noFill/>
          <a:ln/>
        </p:spPr>
        <p:txBody>
          <a:bodyPr wrap="square" lIns="0" tIns="0" rIns="0" bIns="0" rtlCol="0" anchor="ctr"/>
          <a:lstStyle/>
          <a:p>
            <a:pPr marL="0" indent="0">
              <a:buNone/>
            </a:pPr>
            <a:r>
              <a:rPr lang="en-US" sz="8000" b="1" dirty="0">
                <a:solidFill>
                  <a:srgbClr val="E4572E"/>
                </a:solidFill>
                <a:latin typeface="Cambria" pitchFamily="34" charset="0"/>
                <a:ea typeface="Cambria" pitchFamily="34" charset="-122"/>
                <a:cs typeface="Cambria" pitchFamily="34" charset="-120"/>
              </a:rPr>
              <a:t>01</a:t>
            </a:r>
            <a:endParaRPr lang="en-US" sz="8000" dirty="0"/>
          </a:p>
        </p:txBody>
      </p:sp>
      <p:sp>
        <p:nvSpPr>
          <p:cNvPr id="3" name="Text 1"/>
          <p:cNvSpPr txBox="1"/>
          <p:nvPr/>
        </p:nvSpPr>
        <p:spPr>
          <a:xfrm>
            <a:off x="731520" y="2468880"/>
            <a:ext cx="7680960" cy="731520"/>
          </a:xfrm>
          <a:prstGeom prst="rect">
            <a:avLst/>
          </a:prstGeom>
          <a:noFill/>
          <a:ln/>
        </p:spPr>
        <p:txBody>
          <a:bodyPr wrap="square" lIns="0" tIns="0" rIns="0" bIns="0" rtlCol="0" anchor="ctr"/>
          <a:lstStyle/>
          <a:p>
            <a:pPr marL="0" indent="0">
              <a:buNone/>
            </a:pPr>
            <a:r>
              <a:rPr lang="en-US" sz="4000" b="1" dirty="0">
                <a:solidFill>
                  <a:srgbClr val="0B2545"/>
                </a:solidFill>
                <a:latin typeface="Cambria" pitchFamily="34" charset="0"/>
                <a:ea typeface="Cambria" pitchFamily="34" charset="-122"/>
                <a:cs typeface="Cambria" pitchFamily="34" charset="-120"/>
              </a:rPr>
              <a:t>Bối cảnh và phương pháp</a:t>
            </a:r>
            <a:endParaRPr lang="en-US" sz="4000" dirty="0"/>
          </a:p>
        </p:txBody>
      </p:sp>
      <p:sp>
        <p:nvSpPr>
          <p:cNvPr id="4" name="Text 2"/>
          <p:cNvSpPr txBox="1"/>
          <p:nvPr/>
        </p:nvSpPr>
        <p:spPr>
          <a:xfrm>
            <a:off x="731520" y="3291840"/>
            <a:ext cx="7680960" cy="731520"/>
          </a:xfrm>
          <a:prstGeom prst="rect">
            <a:avLst/>
          </a:prstGeom>
          <a:noFill/>
          <a:ln/>
        </p:spPr>
        <p:txBody>
          <a:bodyPr wrap="square" lIns="0" tIns="0" rIns="0" bIns="0" rtlCol="0" anchor="ctr"/>
          <a:lstStyle/>
          <a:p>
            <a:pPr marL="0" indent="0">
              <a:buNone/>
            </a:pPr>
            <a:r>
              <a:rPr lang="en-US" sz="2000" dirty="0">
                <a:solidFill>
                  <a:srgbClr val="4B5B73"/>
                </a:solidFill>
                <a:latin typeface="Calibri" pitchFamily="34" charset="0"/>
                <a:ea typeface="Calibri" pitchFamily="34" charset="-122"/>
                <a:cs typeface="Calibri" pitchFamily="34" charset="-120"/>
              </a:rPr>
              <a:t>Vấn đề, thiết lập thực nghiệm, các họ tấn công</a:t>
            </a:r>
            <a:endParaRPr lang="en-US" sz="2000" dirty="0"/>
          </a:p>
        </p:txBody>
      </p:sp>
      <p:sp>
        <p:nvSpPr>
          <p:cNvPr id="25" name="Slide Number Placeholder 0"/>
          <p:cNvSpPr>
            <a:spLocks noGrp="1"/>
          </p:cNvSpPr>
          <p:nvPr>
            <p:ph type="sldNum" sz="quarter" idx="4294967295"/>
          </p:nvPr>
        </p:nvSpPr>
        <p:spPr>
          <a:xfrm>
            <a:off x="8229600" y="4773168"/>
            <a:ext cx="548640" cy="274320"/>
          </a:xfrm>
          <a:prstGeom prst="rect">
            <a:avLst/>
          </a:prstGeom>
          <a:extLst>
            <a:ext uri="{C572A759-6A51-4108-AA02-DFA0A04FC94B}">
              <ma14:wrappingTextBoxFlag xmlns:ma14="http://schemas.microsoft.com/office/mac/drawingml/2011/main" xmlns="" val="0"/>
            </a:ext>
          </a:extLst>
        </p:spPr>
        <p:txBody>
          <a:bodyPr/>
          <a:lstStyle>
            <a:lvl1pPr>
              <a:defRPr sz="1200">
                <a:solidFill>
                  <a:srgbClr val="6B7280"/>
                </a:solidFill>
                <a:latin typeface="Calibri"/>
                <a:ea typeface="Calibri"/>
                <a:cs typeface="Calibri"/>
              </a:defRPr>
            </a:lvl1pPr>
          </a:lstStyle>
          <a:p>
            <a:pPr algn="r"/>
            <a:fld id="{F7021451-1387-4CA6-816F-3879F97B5CBC}" type="slidenum">
              <a:rPr lang="en-US" b="0"/>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685800"/>
          </a:xfrm>
          <a:prstGeom prst="rect">
            <a:avLst/>
          </a:prstGeom>
          <a:noFill/>
          <a:ln/>
        </p:spPr>
        <p:txBody>
          <a:bodyPr wrap="square" lIns="0" tIns="0" rIns="0" bIns="0" rtlCol="0" anchor="ctr"/>
          <a:lstStyle/>
          <a:p>
            <a:pPr marL="0" indent="0">
              <a:buNone/>
            </a:pPr>
            <a:r>
              <a:rPr lang="en-US" sz="3000" b="1" dirty="0">
                <a:solidFill>
                  <a:srgbClr val="0B2545"/>
                </a:solidFill>
                <a:latin typeface="Cambria" pitchFamily="34" charset="0"/>
                <a:ea typeface="Cambria" pitchFamily="34" charset="-122"/>
                <a:cs typeface="Cambria" pitchFamily="34" charset="-120"/>
              </a:rPr>
              <a:t>Vấn đề và câu hỏi nghiên cứu</a:t>
            </a:r>
            <a:endParaRPr lang="en-US" sz="3000" dirty="0"/>
          </a:p>
        </p:txBody>
      </p:sp>
      <p:sp>
        <p:nvSpPr>
          <p:cNvPr id="3" name="Shape 1"/>
          <p:cNvSpPr/>
          <p:nvPr/>
        </p:nvSpPr>
        <p:spPr>
          <a:xfrm>
            <a:off x="457200" y="1097280"/>
            <a:ext cx="3931920" cy="1783080"/>
          </a:xfrm>
          <a:prstGeom prst="roundRect">
            <a:avLst>
              <a:gd name="adj" fmla="val 5128"/>
            </a:avLst>
          </a:prstGeom>
          <a:solidFill>
            <a:srgbClr val="EEF3F9"/>
          </a:solidFill>
          <a:ln w="12700">
            <a:solidFill>
              <a:srgbClr val="EEF3F9"/>
            </a:solidFill>
            <a:prstDash val="solid"/>
          </a:ln>
        </p:spPr>
        <p:txBody>
          <a:bodyPr/>
          <a:lstStyle/>
          <a:p>
            <a:endParaRPr lang="en-VN"/>
          </a:p>
        </p:txBody>
      </p:sp>
      <p:sp>
        <p:nvSpPr>
          <p:cNvPr id="4" name="Text 2"/>
          <p:cNvSpPr txBox="1"/>
          <p:nvPr/>
        </p:nvSpPr>
        <p:spPr>
          <a:xfrm>
            <a:off x="640080" y="1188720"/>
            <a:ext cx="3566160" cy="320040"/>
          </a:xfrm>
          <a:prstGeom prst="rect">
            <a:avLst/>
          </a:prstGeom>
          <a:noFill/>
          <a:ln/>
        </p:spPr>
        <p:txBody>
          <a:bodyPr wrap="square" lIns="0" tIns="0" rIns="0" bIns="0" rtlCol="0" anchor="ctr"/>
          <a:lstStyle/>
          <a:p>
            <a:pPr marL="0" indent="0">
              <a:buNone/>
            </a:pPr>
            <a:r>
              <a:rPr lang="en-US" sz="1800" b="1" dirty="0">
                <a:solidFill>
                  <a:srgbClr val="0B2545"/>
                </a:solidFill>
                <a:latin typeface="Calibri" pitchFamily="34" charset="0"/>
                <a:ea typeface="Calibri" pitchFamily="34" charset="-122"/>
                <a:cs typeface="Calibri" pitchFamily="34" charset="-120"/>
              </a:rPr>
              <a:t>Vấn đề</a:t>
            </a:r>
            <a:endParaRPr lang="en-US" sz="1800" dirty="0"/>
          </a:p>
        </p:txBody>
      </p:sp>
      <p:sp>
        <p:nvSpPr>
          <p:cNvPr id="5" name="Text 3"/>
          <p:cNvSpPr txBox="1"/>
          <p:nvPr/>
        </p:nvSpPr>
        <p:spPr>
          <a:xfrm>
            <a:off x="640080" y="1554480"/>
            <a:ext cx="3566160" cy="1234440"/>
          </a:xfrm>
          <a:prstGeom prst="rect">
            <a:avLst/>
          </a:prstGeom>
          <a:noFill/>
          <a:ln/>
        </p:spPr>
        <p:txBody>
          <a:bodyPr wrap="square" lIns="0" tIns="0" rIns="0" bIns="0" rtlCol="0" anchor="t"/>
          <a:lstStyle/>
          <a:p>
            <a:pPr marL="0" indent="0">
              <a:buNone/>
            </a:pPr>
            <a:r>
              <a:rPr lang="en-US" sz="1600" dirty="0">
                <a:solidFill>
                  <a:srgbClr val="1F2937"/>
                </a:solidFill>
                <a:latin typeface="Calibri" pitchFamily="34" charset="0"/>
                <a:ea typeface="Calibri" pitchFamily="34" charset="-122"/>
                <a:cs typeface="Calibri" pitchFamily="34" charset="-120"/>
              </a:rPr>
              <a:t>Chỉ cần truy vấn </a:t>
            </a:r>
            <a:r>
              <a:rPr lang="en-US" sz="1600" dirty="0" err="1">
                <a:solidFill>
                  <a:srgbClr val="1F2937"/>
                </a:solidFill>
                <a:latin typeface="Calibri" pitchFamily="34" charset="0"/>
                <a:ea typeface="Calibri" pitchFamily="34" charset="-122"/>
                <a:cs typeface="Calibri" pitchFamily="34" charset="-120"/>
              </a:rPr>
              <a:t>hộp</a:t>
            </a:r>
            <a:r>
              <a:rPr lang="en-US" sz="1600" dirty="0">
                <a:solidFill>
                  <a:srgbClr val="1F2937"/>
                </a:solidFill>
                <a:latin typeface="Calibri" pitchFamily="34" charset="0"/>
                <a:ea typeface="Calibri" pitchFamily="34" charset="-122"/>
                <a:cs typeface="Calibri" pitchFamily="34" charset="-120"/>
              </a:rPr>
              <a:t> </a:t>
            </a:r>
            <a:r>
              <a:rPr lang="en-US" sz="1600" dirty="0" err="1">
                <a:solidFill>
                  <a:srgbClr val="1F2937"/>
                </a:solidFill>
                <a:latin typeface="Calibri" pitchFamily="34" charset="0"/>
                <a:ea typeface="Calibri" pitchFamily="34" charset="-122"/>
                <a:cs typeface="Calibri" pitchFamily="34" charset="-120"/>
              </a:rPr>
              <a:t>đen</a:t>
            </a:r>
            <a:r>
              <a:rPr lang="en-US" sz="1600" dirty="0">
                <a:solidFill>
                  <a:srgbClr val="1F2937"/>
                </a:solidFill>
                <a:latin typeface="Calibri" pitchFamily="34" charset="0"/>
                <a:ea typeface="Calibri" pitchFamily="34" charset="-122"/>
                <a:cs typeface="Calibri" pitchFamily="34" charset="-120"/>
              </a:rPr>
              <a:t> (</a:t>
            </a:r>
            <a:r>
              <a:rPr lang="en-US" sz="1600" dirty="0" err="1">
                <a:solidFill>
                  <a:srgbClr val="1F2937"/>
                </a:solidFill>
                <a:latin typeface="Calibri" pitchFamily="34" charset="0"/>
                <a:ea typeface="Calibri" pitchFamily="34" charset="-122"/>
                <a:cs typeface="Calibri" pitchFamily="34" charset="-120"/>
              </a:rPr>
              <a:t>blackbox</a:t>
            </a:r>
            <a:r>
              <a:rPr lang="en-US" sz="1600" dirty="0">
                <a:solidFill>
                  <a:srgbClr val="1F2937"/>
                </a:solidFill>
                <a:latin typeface="Calibri" pitchFamily="34" charset="0"/>
                <a:ea typeface="Calibri" pitchFamily="34" charset="-122"/>
                <a:cs typeface="Calibri" pitchFamily="34" charset="-120"/>
              </a:rPr>
              <a:t>), kẻ tấn công có thể biết ECG của một bệnh nhân có nằm trong tập huấn luyện hay không (MIA) [1].</a:t>
            </a:r>
            <a:endParaRPr lang="en-US" sz="1600" dirty="0"/>
          </a:p>
        </p:txBody>
      </p:sp>
      <p:sp>
        <p:nvSpPr>
          <p:cNvPr id="6" name="Shape 4"/>
          <p:cNvSpPr/>
          <p:nvPr/>
        </p:nvSpPr>
        <p:spPr>
          <a:xfrm>
            <a:off x="4572000" y="1097280"/>
            <a:ext cx="4114800" cy="1783080"/>
          </a:xfrm>
          <a:prstGeom prst="roundRect">
            <a:avLst>
              <a:gd name="adj" fmla="val 5128"/>
            </a:avLst>
          </a:prstGeom>
          <a:solidFill>
            <a:srgbClr val="EEF3F9"/>
          </a:solidFill>
          <a:ln w="12700">
            <a:solidFill>
              <a:srgbClr val="EEF3F9"/>
            </a:solidFill>
            <a:prstDash val="solid"/>
          </a:ln>
        </p:spPr>
        <p:txBody>
          <a:bodyPr/>
          <a:lstStyle/>
          <a:p>
            <a:endParaRPr lang="en-VN"/>
          </a:p>
        </p:txBody>
      </p:sp>
      <p:sp>
        <p:nvSpPr>
          <p:cNvPr id="7" name="Text 5"/>
          <p:cNvSpPr txBox="1"/>
          <p:nvPr/>
        </p:nvSpPr>
        <p:spPr>
          <a:xfrm>
            <a:off x="4754880" y="1188720"/>
            <a:ext cx="3749040" cy="320040"/>
          </a:xfrm>
          <a:prstGeom prst="rect">
            <a:avLst/>
          </a:prstGeom>
          <a:noFill/>
          <a:ln/>
        </p:spPr>
        <p:txBody>
          <a:bodyPr wrap="square" lIns="0" tIns="0" rIns="0" bIns="0" rtlCol="0" anchor="ctr"/>
          <a:lstStyle/>
          <a:p>
            <a:pPr marL="0" indent="0">
              <a:buNone/>
            </a:pPr>
            <a:r>
              <a:rPr lang="en-US" sz="1800" b="1" dirty="0">
                <a:solidFill>
                  <a:srgbClr val="0B2545"/>
                </a:solidFill>
                <a:latin typeface="Calibri" pitchFamily="34" charset="0"/>
                <a:ea typeface="Calibri" pitchFamily="34" charset="-122"/>
                <a:cs typeface="Calibri" pitchFamily="34" charset="-120"/>
              </a:rPr>
              <a:t>Khoảng trống</a:t>
            </a:r>
            <a:endParaRPr lang="en-US" sz="1800" dirty="0"/>
          </a:p>
        </p:txBody>
      </p:sp>
      <p:sp>
        <p:nvSpPr>
          <p:cNvPr id="8" name="Text 6"/>
          <p:cNvSpPr txBox="1"/>
          <p:nvPr/>
        </p:nvSpPr>
        <p:spPr>
          <a:xfrm>
            <a:off x="4754880" y="1554480"/>
            <a:ext cx="3749040" cy="1234440"/>
          </a:xfrm>
          <a:prstGeom prst="rect">
            <a:avLst/>
          </a:prstGeom>
          <a:noFill/>
          <a:ln/>
        </p:spPr>
        <p:txBody>
          <a:bodyPr wrap="square" lIns="0" tIns="0" rIns="0" bIns="0" rtlCol="0" anchor="t"/>
          <a:lstStyle/>
          <a:p>
            <a:pPr marL="0" indent="0">
              <a:spcAft>
                <a:spcPts val="600"/>
              </a:spcAft>
              <a:buNone/>
            </a:pPr>
            <a:r>
              <a:rPr lang="en-US" sz="1600" b="1" dirty="0">
                <a:solidFill>
                  <a:srgbClr val="E4572E"/>
                </a:solidFill>
                <a:latin typeface="Calibri" pitchFamily="34" charset="0"/>
                <a:ea typeface="Calibri" pitchFamily="34" charset="-122"/>
                <a:cs typeface="Calibri" pitchFamily="34" charset="-120"/>
              </a:rPr>
              <a:t>G1  </a:t>
            </a:r>
            <a:r>
              <a:rPr lang="en-US" sz="1600" dirty="0">
                <a:solidFill>
                  <a:srgbClr val="1F2937"/>
                </a:solidFill>
                <a:latin typeface="Calibri" pitchFamily="34" charset="0"/>
                <a:ea typeface="Calibri" pitchFamily="34" charset="-122"/>
                <a:cs typeface="Calibri" pitchFamily="34" charset="-120"/>
              </a:rPr>
              <a:t>Thiếu đánh giá cho kiến trúc hiện đại và foundation model</a:t>
            </a:r>
            <a:endParaRPr lang="en-US" sz="1600" dirty="0"/>
          </a:p>
          <a:p>
            <a:pPr marL="0" indent="0">
              <a:spcAft>
                <a:spcPts val="600"/>
              </a:spcAft>
              <a:buNone/>
            </a:pPr>
            <a:r>
              <a:rPr lang="en-US" sz="1600" b="1" dirty="0">
                <a:solidFill>
                  <a:srgbClr val="E4572E"/>
                </a:solidFill>
                <a:latin typeface="Calibri" pitchFamily="34" charset="0"/>
                <a:ea typeface="Calibri" pitchFamily="34" charset="-122"/>
                <a:cs typeface="Calibri" pitchFamily="34" charset="-120"/>
              </a:rPr>
              <a:t>G2  </a:t>
            </a:r>
            <a:r>
              <a:rPr lang="en-US" sz="1600" dirty="0">
                <a:solidFill>
                  <a:srgbClr val="1F2937"/>
                </a:solidFill>
                <a:latin typeface="Calibri" pitchFamily="34" charset="0"/>
                <a:ea typeface="Calibri" pitchFamily="34" charset="-122"/>
                <a:cs typeface="Calibri" pitchFamily="34" charset="-120"/>
              </a:rPr>
              <a:t>Thiếu so sánh phân loại và dự báo ở low-FPR [2]</a:t>
            </a:r>
            <a:endParaRPr lang="en-US" sz="1600" dirty="0"/>
          </a:p>
        </p:txBody>
      </p:sp>
      <p:sp>
        <p:nvSpPr>
          <p:cNvPr id="9" name="Shape 7"/>
          <p:cNvSpPr/>
          <p:nvPr/>
        </p:nvSpPr>
        <p:spPr>
          <a:xfrm>
            <a:off x="457200" y="3063240"/>
            <a:ext cx="4023360" cy="1554480"/>
          </a:xfrm>
          <a:prstGeom prst="roundRect">
            <a:avLst>
              <a:gd name="adj" fmla="val 5882"/>
            </a:avLst>
          </a:prstGeom>
          <a:solidFill>
            <a:srgbClr val="13315C"/>
          </a:solidFill>
          <a:ln w="12700">
            <a:solidFill>
              <a:srgbClr val="13315C"/>
            </a:solidFill>
            <a:prstDash val="solid"/>
          </a:ln>
        </p:spPr>
        <p:txBody>
          <a:bodyPr/>
          <a:lstStyle/>
          <a:p>
            <a:endParaRPr lang="en-VN"/>
          </a:p>
        </p:txBody>
      </p:sp>
      <p:sp>
        <p:nvSpPr>
          <p:cNvPr id="10" name="Text 8"/>
          <p:cNvSpPr txBox="1"/>
          <p:nvPr/>
        </p:nvSpPr>
        <p:spPr>
          <a:xfrm>
            <a:off x="685800" y="3154680"/>
            <a:ext cx="3566160" cy="365760"/>
          </a:xfrm>
          <a:prstGeom prst="rect">
            <a:avLst/>
          </a:prstGeom>
          <a:noFill/>
          <a:ln/>
        </p:spPr>
        <p:txBody>
          <a:bodyPr wrap="square" lIns="0" tIns="0" rIns="0" bIns="0" rtlCol="0" anchor="ctr"/>
          <a:lstStyle/>
          <a:p>
            <a:pPr marL="0" indent="0">
              <a:buNone/>
            </a:pPr>
            <a:r>
              <a:rPr lang="en-US" sz="2000" b="1" dirty="0">
                <a:solidFill>
                  <a:srgbClr val="FFB199"/>
                </a:solidFill>
                <a:latin typeface="Calibri" pitchFamily="34" charset="0"/>
                <a:ea typeface="Calibri" pitchFamily="34" charset="-122"/>
                <a:cs typeface="Calibri" pitchFamily="34" charset="-120"/>
              </a:rPr>
              <a:t>RQ1</a:t>
            </a:r>
            <a:endParaRPr lang="en-US" sz="2000" dirty="0"/>
          </a:p>
        </p:txBody>
      </p:sp>
      <p:sp>
        <p:nvSpPr>
          <p:cNvPr id="11" name="Text 9"/>
          <p:cNvSpPr txBox="1"/>
          <p:nvPr/>
        </p:nvSpPr>
        <p:spPr>
          <a:xfrm>
            <a:off x="685800" y="3566160"/>
            <a:ext cx="3566160" cy="960120"/>
          </a:xfrm>
          <a:prstGeom prst="rect">
            <a:avLst/>
          </a:prstGeom>
          <a:noFill/>
          <a:ln/>
        </p:spPr>
        <p:txBody>
          <a:bodyPr wrap="square" lIns="0" tIns="0" rIns="0" bIns="0" rtlCol="0" anchor="t"/>
          <a:lstStyle/>
          <a:p>
            <a:pPr marL="0" indent="0">
              <a:buNone/>
            </a:pPr>
            <a:r>
              <a:rPr lang="en-US" sz="1800" dirty="0">
                <a:solidFill>
                  <a:srgbClr val="FFFFFF"/>
                </a:solidFill>
                <a:latin typeface="Calibri" pitchFamily="34" charset="0"/>
                <a:ea typeface="Calibri" pitchFamily="34" charset="-122"/>
                <a:cs typeface="Calibri" pitchFamily="34" charset="-120"/>
              </a:rPr>
              <a:t>Kiến trúc hiện đại có rò rỉ nhiều hơn LSTM/TCN?</a:t>
            </a:r>
            <a:endParaRPr lang="en-US" sz="1800" dirty="0"/>
          </a:p>
        </p:txBody>
      </p:sp>
      <p:sp>
        <p:nvSpPr>
          <p:cNvPr id="12" name="Shape 10"/>
          <p:cNvSpPr/>
          <p:nvPr/>
        </p:nvSpPr>
        <p:spPr>
          <a:xfrm>
            <a:off x="4663440" y="3063240"/>
            <a:ext cx="4023360" cy="1554480"/>
          </a:xfrm>
          <a:prstGeom prst="roundRect">
            <a:avLst>
              <a:gd name="adj" fmla="val 5882"/>
            </a:avLst>
          </a:prstGeom>
          <a:solidFill>
            <a:srgbClr val="13315C"/>
          </a:solidFill>
          <a:ln w="12700">
            <a:solidFill>
              <a:srgbClr val="13315C"/>
            </a:solidFill>
            <a:prstDash val="solid"/>
          </a:ln>
        </p:spPr>
        <p:txBody>
          <a:bodyPr/>
          <a:lstStyle/>
          <a:p>
            <a:endParaRPr lang="en-VN"/>
          </a:p>
        </p:txBody>
      </p:sp>
      <p:sp>
        <p:nvSpPr>
          <p:cNvPr id="13" name="Text 11"/>
          <p:cNvSpPr txBox="1"/>
          <p:nvPr/>
        </p:nvSpPr>
        <p:spPr>
          <a:xfrm>
            <a:off x="4892040" y="3154680"/>
            <a:ext cx="3566160" cy="365760"/>
          </a:xfrm>
          <a:prstGeom prst="rect">
            <a:avLst/>
          </a:prstGeom>
          <a:noFill/>
          <a:ln/>
        </p:spPr>
        <p:txBody>
          <a:bodyPr wrap="square" lIns="0" tIns="0" rIns="0" bIns="0" rtlCol="0" anchor="ctr"/>
          <a:lstStyle/>
          <a:p>
            <a:pPr marL="0" indent="0">
              <a:buNone/>
            </a:pPr>
            <a:r>
              <a:rPr lang="en-US" sz="2000" b="1" dirty="0">
                <a:solidFill>
                  <a:srgbClr val="FFB199"/>
                </a:solidFill>
                <a:latin typeface="Calibri" pitchFamily="34" charset="0"/>
                <a:ea typeface="Calibri" pitchFamily="34" charset="-122"/>
                <a:cs typeface="Calibri" pitchFamily="34" charset="-120"/>
              </a:rPr>
              <a:t>RQ2</a:t>
            </a:r>
            <a:endParaRPr lang="en-US" sz="2000" dirty="0"/>
          </a:p>
        </p:txBody>
      </p:sp>
      <p:sp>
        <p:nvSpPr>
          <p:cNvPr id="14" name="Text 12"/>
          <p:cNvSpPr txBox="1"/>
          <p:nvPr/>
        </p:nvSpPr>
        <p:spPr>
          <a:xfrm>
            <a:off x="4892040" y="3566160"/>
            <a:ext cx="3566160" cy="960120"/>
          </a:xfrm>
          <a:prstGeom prst="rect">
            <a:avLst/>
          </a:prstGeom>
          <a:noFill/>
          <a:ln/>
        </p:spPr>
        <p:txBody>
          <a:bodyPr wrap="square" lIns="0" tIns="0" rIns="0" bIns="0" rtlCol="0" anchor="t"/>
          <a:lstStyle/>
          <a:p>
            <a:pPr marL="0" indent="0">
              <a:buNone/>
            </a:pPr>
            <a:r>
              <a:rPr lang="en-US" sz="1800" dirty="0">
                <a:solidFill>
                  <a:srgbClr val="FFFFFF"/>
                </a:solidFill>
                <a:latin typeface="Calibri" pitchFamily="34" charset="0"/>
                <a:ea typeface="Calibri" pitchFamily="34" charset="-122"/>
                <a:cs typeface="Calibri" pitchFamily="34" charset="-120"/>
              </a:rPr>
              <a:t>Phân loại hay dự báo dễ bị tấn công hơn?</a:t>
            </a:r>
            <a:endParaRPr lang="en-US" sz="1800" dirty="0"/>
          </a:p>
        </p:txBody>
      </p:sp>
      <p:sp>
        <p:nvSpPr>
          <p:cNvPr id="25" name="Slide Number Placeholder 0"/>
          <p:cNvSpPr>
            <a:spLocks noGrp="1"/>
          </p:cNvSpPr>
          <p:nvPr>
            <p:ph type="sldNum" sz="quarter" idx="4294967295"/>
          </p:nvPr>
        </p:nvSpPr>
        <p:spPr>
          <a:xfrm>
            <a:off x="8229600" y="4773168"/>
            <a:ext cx="548640" cy="274320"/>
          </a:xfrm>
          <a:prstGeom prst="rect">
            <a:avLst/>
          </a:prstGeom>
          <a:extLst>
            <a:ext uri="{C572A759-6A51-4108-AA02-DFA0A04FC94B}">
              <ma14:wrappingTextBoxFlag xmlns:ma14="http://schemas.microsoft.com/office/mac/drawingml/2011/main" xmlns="" val="0"/>
            </a:ext>
          </a:extLst>
        </p:spPr>
        <p:txBody>
          <a:bodyPr/>
          <a:lstStyle>
            <a:lvl1pPr>
              <a:defRPr sz="1200">
                <a:solidFill>
                  <a:srgbClr val="6B7280"/>
                </a:solidFill>
                <a:latin typeface="Calibri"/>
                <a:ea typeface="Calibri"/>
                <a:cs typeface="Calibri"/>
              </a:defRPr>
            </a:lvl1pPr>
          </a:lstStyle>
          <a:p>
            <a:pPr algn="r"/>
            <a:fld id="{F7021451-1387-4CA6-816F-3879F97B5CBC}" type="slidenum">
              <a:rPr lang="en-US" b="0"/>
              <a:t>3</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0"/>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1"/>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2"/>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3"/>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P spid="11" grpId="0" animBg="1"/>
      <p:bldP spid="12" grpId="0" animBg="1"/>
      <p:bldP spid="13" grpId="0" animBg="1"/>
      <p:bldP spid="14"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685800"/>
          </a:xfrm>
          <a:prstGeom prst="rect">
            <a:avLst/>
          </a:prstGeom>
          <a:noFill/>
          <a:ln/>
        </p:spPr>
        <p:txBody>
          <a:bodyPr wrap="square" lIns="0" tIns="0" rIns="0" bIns="0" rtlCol="0" anchor="ctr"/>
          <a:lstStyle/>
          <a:p>
            <a:pPr marL="0" indent="0">
              <a:buNone/>
            </a:pPr>
            <a:r>
              <a:rPr lang="en-US" sz="3000" b="1" dirty="0">
                <a:solidFill>
                  <a:srgbClr val="0B2545"/>
                </a:solidFill>
                <a:latin typeface="Cambria" pitchFamily="34" charset="0"/>
                <a:ea typeface="Cambria" pitchFamily="34" charset="-122"/>
                <a:cs typeface="Cambria" pitchFamily="34" charset="-120"/>
              </a:rPr>
              <a:t>Dữ liệu và thiết lập thực nghiệm</a:t>
            </a:r>
            <a:endParaRPr lang="en-US" sz="3000" dirty="0"/>
          </a:p>
        </p:txBody>
      </p:sp>
      <p:sp>
        <p:nvSpPr>
          <p:cNvPr id="3" name="Shape 1"/>
          <p:cNvSpPr/>
          <p:nvPr/>
        </p:nvSpPr>
        <p:spPr>
          <a:xfrm>
            <a:off x="457200" y="1097280"/>
            <a:ext cx="2651760" cy="1600200"/>
          </a:xfrm>
          <a:prstGeom prst="roundRect">
            <a:avLst>
              <a:gd name="adj" fmla="val 5714"/>
            </a:avLst>
          </a:prstGeom>
          <a:solidFill>
            <a:srgbClr val="EEF3F9"/>
          </a:solidFill>
          <a:ln w="12700">
            <a:solidFill>
              <a:srgbClr val="EEF3F9"/>
            </a:solidFill>
            <a:prstDash val="solid"/>
          </a:ln>
        </p:spPr>
        <p:txBody>
          <a:bodyPr/>
          <a:lstStyle/>
          <a:p>
            <a:endParaRPr lang="en-VN"/>
          </a:p>
        </p:txBody>
      </p:sp>
      <p:sp>
        <p:nvSpPr>
          <p:cNvPr id="4" name="Text 2"/>
          <p:cNvSpPr txBox="1"/>
          <p:nvPr/>
        </p:nvSpPr>
        <p:spPr>
          <a:xfrm>
            <a:off x="594360" y="1188720"/>
            <a:ext cx="2377440" cy="594360"/>
          </a:xfrm>
          <a:prstGeom prst="rect">
            <a:avLst/>
          </a:prstGeom>
          <a:noFill/>
          <a:ln/>
        </p:spPr>
        <p:txBody>
          <a:bodyPr wrap="square" lIns="0" tIns="0" rIns="0" bIns="0" rtlCol="0" anchor="ctr"/>
          <a:lstStyle/>
          <a:p>
            <a:pPr marL="0" indent="0" algn="ctr">
              <a:buNone/>
            </a:pPr>
            <a:r>
              <a:rPr lang="en-US" sz="2400" b="1" dirty="0">
                <a:solidFill>
                  <a:srgbClr val="3D6CB9"/>
                </a:solidFill>
                <a:latin typeface="Cambria" pitchFamily="34" charset="0"/>
                <a:ea typeface="Cambria" pitchFamily="34" charset="-122"/>
                <a:cs typeface="Cambria" pitchFamily="34" charset="-120"/>
              </a:rPr>
              <a:t>16.272</a:t>
            </a:r>
            <a:endParaRPr lang="en-US" sz="2400" dirty="0"/>
          </a:p>
        </p:txBody>
      </p:sp>
      <p:sp>
        <p:nvSpPr>
          <p:cNvPr id="5" name="Text 3"/>
          <p:cNvSpPr txBox="1"/>
          <p:nvPr/>
        </p:nvSpPr>
        <p:spPr>
          <a:xfrm>
            <a:off x="594360" y="1737360"/>
            <a:ext cx="2377440" cy="914400"/>
          </a:xfrm>
          <a:prstGeom prst="rect">
            <a:avLst/>
          </a:prstGeom>
          <a:noFill/>
          <a:ln/>
        </p:spPr>
        <p:txBody>
          <a:bodyPr wrap="square" lIns="0" tIns="0" rIns="0" bIns="0" rtlCol="0" anchor="t"/>
          <a:lstStyle/>
          <a:p>
            <a:pPr marL="0" indent="0" algn="ctr">
              <a:buNone/>
            </a:pPr>
            <a:r>
              <a:rPr lang="en-US" sz="1400" dirty="0">
                <a:solidFill>
                  <a:srgbClr val="1F2937"/>
                </a:solidFill>
                <a:latin typeface="Calibri" pitchFamily="34" charset="0"/>
                <a:ea typeface="Calibri" pitchFamily="34" charset="-122"/>
                <a:cs typeface="Calibri" pitchFamily="34" charset="-120"/>
              </a:rPr>
              <a:t>bản ghi ECG PTB-XL [3], 14.641 bệnh nhân</a:t>
            </a:r>
            <a:endParaRPr lang="en-US" sz="1400" dirty="0"/>
          </a:p>
        </p:txBody>
      </p:sp>
      <p:sp>
        <p:nvSpPr>
          <p:cNvPr id="6" name="Shape 4"/>
          <p:cNvSpPr/>
          <p:nvPr/>
        </p:nvSpPr>
        <p:spPr>
          <a:xfrm>
            <a:off x="3246120" y="1097280"/>
            <a:ext cx="2651760" cy="1600200"/>
          </a:xfrm>
          <a:prstGeom prst="roundRect">
            <a:avLst>
              <a:gd name="adj" fmla="val 5714"/>
            </a:avLst>
          </a:prstGeom>
          <a:solidFill>
            <a:srgbClr val="EEF3F9"/>
          </a:solidFill>
          <a:ln w="12700">
            <a:solidFill>
              <a:srgbClr val="EEF3F9"/>
            </a:solidFill>
            <a:prstDash val="solid"/>
          </a:ln>
        </p:spPr>
        <p:txBody>
          <a:bodyPr/>
          <a:lstStyle/>
          <a:p>
            <a:endParaRPr lang="en-VN"/>
          </a:p>
        </p:txBody>
      </p:sp>
      <p:sp>
        <p:nvSpPr>
          <p:cNvPr id="7" name="Text 5"/>
          <p:cNvSpPr txBox="1"/>
          <p:nvPr/>
        </p:nvSpPr>
        <p:spPr>
          <a:xfrm>
            <a:off x="3383280" y="1188720"/>
            <a:ext cx="2377440" cy="594360"/>
          </a:xfrm>
          <a:prstGeom prst="rect">
            <a:avLst/>
          </a:prstGeom>
          <a:noFill/>
          <a:ln/>
        </p:spPr>
        <p:txBody>
          <a:bodyPr wrap="square" lIns="0" tIns="0" rIns="0" bIns="0" rtlCol="0" anchor="ctr"/>
          <a:lstStyle/>
          <a:p>
            <a:pPr marL="0" indent="0" algn="ctr">
              <a:buNone/>
            </a:pPr>
            <a:r>
              <a:rPr lang="en-US" sz="2400" b="1" dirty="0">
                <a:solidFill>
                  <a:srgbClr val="3D6CB9"/>
                </a:solidFill>
                <a:latin typeface="Cambria" pitchFamily="34" charset="0"/>
                <a:ea typeface="Cambria" pitchFamily="34" charset="-122"/>
                <a:cs typeface="Cambria" pitchFamily="34" charset="-120"/>
              </a:rPr>
              <a:t>8.136 | 7.636</a:t>
            </a:r>
            <a:endParaRPr lang="en-US" sz="2400" dirty="0"/>
          </a:p>
        </p:txBody>
      </p:sp>
      <p:sp>
        <p:nvSpPr>
          <p:cNvPr id="8" name="Text 6"/>
          <p:cNvSpPr txBox="1"/>
          <p:nvPr/>
        </p:nvSpPr>
        <p:spPr>
          <a:xfrm>
            <a:off x="3383280" y="1737360"/>
            <a:ext cx="2377440" cy="914400"/>
          </a:xfrm>
          <a:prstGeom prst="rect">
            <a:avLst/>
          </a:prstGeom>
          <a:noFill/>
          <a:ln/>
        </p:spPr>
        <p:txBody>
          <a:bodyPr wrap="square" lIns="0" tIns="0" rIns="0" bIns="0" rtlCol="0" anchor="t"/>
          <a:lstStyle/>
          <a:p>
            <a:pPr marL="0" indent="0" algn="ctr">
              <a:buNone/>
            </a:pPr>
            <a:r>
              <a:rPr lang="en-US" sz="1400" dirty="0">
                <a:solidFill>
                  <a:srgbClr val="1F2937"/>
                </a:solidFill>
                <a:latin typeface="Calibri" pitchFamily="34" charset="0"/>
                <a:ea typeface="Calibri" pitchFamily="34" charset="-122"/>
                <a:cs typeface="Calibri" pitchFamily="34" charset="-120"/>
              </a:rPr>
              <a:t>member | non-member</a:t>
            </a:r>
            <a:endParaRPr lang="en-US" sz="1400" dirty="0"/>
          </a:p>
        </p:txBody>
      </p:sp>
      <p:sp>
        <p:nvSpPr>
          <p:cNvPr id="9" name="Shape 7"/>
          <p:cNvSpPr/>
          <p:nvPr/>
        </p:nvSpPr>
        <p:spPr>
          <a:xfrm>
            <a:off x="6035040" y="1097280"/>
            <a:ext cx="2651760" cy="1600200"/>
          </a:xfrm>
          <a:prstGeom prst="roundRect">
            <a:avLst>
              <a:gd name="adj" fmla="val 5714"/>
            </a:avLst>
          </a:prstGeom>
          <a:solidFill>
            <a:srgbClr val="EEF3F9"/>
          </a:solidFill>
          <a:ln w="12700">
            <a:solidFill>
              <a:srgbClr val="EEF3F9"/>
            </a:solidFill>
            <a:prstDash val="solid"/>
          </a:ln>
        </p:spPr>
        <p:txBody>
          <a:bodyPr/>
          <a:lstStyle/>
          <a:p>
            <a:endParaRPr lang="en-VN"/>
          </a:p>
        </p:txBody>
      </p:sp>
      <p:sp>
        <p:nvSpPr>
          <p:cNvPr id="10" name="Text 8"/>
          <p:cNvSpPr txBox="1"/>
          <p:nvPr/>
        </p:nvSpPr>
        <p:spPr>
          <a:xfrm>
            <a:off x="6172200" y="1188720"/>
            <a:ext cx="2377440" cy="594360"/>
          </a:xfrm>
          <a:prstGeom prst="rect">
            <a:avLst/>
          </a:prstGeom>
          <a:noFill/>
          <a:ln/>
        </p:spPr>
        <p:txBody>
          <a:bodyPr wrap="square" lIns="0" tIns="0" rIns="0" bIns="0" rtlCol="0" anchor="ctr"/>
          <a:lstStyle/>
          <a:p>
            <a:pPr marL="0" indent="0" algn="ctr">
              <a:buNone/>
            </a:pPr>
            <a:r>
              <a:rPr lang="en-US" sz="2400" b="1" dirty="0">
                <a:solidFill>
                  <a:srgbClr val="3D6CB9"/>
                </a:solidFill>
                <a:latin typeface="Cambria" pitchFamily="34" charset="0"/>
                <a:ea typeface="Cambria" pitchFamily="34" charset="-122"/>
                <a:cs typeface="Cambria" pitchFamily="34" charset="-120"/>
              </a:rPr>
              <a:t>5 × 2</a:t>
            </a:r>
            <a:endParaRPr lang="en-US" sz="2400" dirty="0"/>
          </a:p>
        </p:txBody>
      </p:sp>
      <p:sp>
        <p:nvSpPr>
          <p:cNvPr id="11" name="Text 9"/>
          <p:cNvSpPr txBox="1"/>
          <p:nvPr/>
        </p:nvSpPr>
        <p:spPr>
          <a:xfrm>
            <a:off x="6172200" y="1737360"/>
            <a:ext cx="2377440" cy="914400"/>
          </a:xfrm>
          <a:prstGeom prst="rect">
            <a:avLst/>
          </a:prstGeom>
          <a:noFill/>
          <a:ln/>
        </p:spPr>
        <p:txBody>
          <a:bodyPr wrap="square" lIns="0" tIns="0" rIns="0" bIns="0" rtlCol="0" anchor="t"/>
          <a:lstStyle/>
          <a:p>
            <a:pPr marL="0" indent="0" algn="ctr">
              <a:buNone/>
            </a:pPr>
            <a:r>
              <a:rPr lang="en-US" sz="1400" dirty="0">
                <a:solidFill>
                  <a:srgbClr val="1F2937"/>
                </a:solidFill>
                <a:latin typeface="Calibri" pitchFamily="34" charset="0"/>
                <a:ea typeface="Calibri" pitchFamily="34" charset="-122"/>
                <a:cs typeface="Calibri" pitchFamily="34" charset="-120"/>
              </a:rPr>
              <a:t>mô hình × bài toán: LSTM [4], TCN [5], PatchTST [6], iTransformer [7], MOMENT [8]</a:t>
            </a:r>
            <a:endParaRPr lang="en-US" sz="1400" dirty="0"/>
          </a:p>
        </p:txBody>
      </p:sp>
      <p:sp>
        <p:nvSpPr>
          <p:cNvPr id="12" name="Shape 10"/>
          <p:cNvSpPr/>
          <p:nvPr/>
        </p:nvSpPr>
        <p:spPr>
          <a:xfrm>
            <a:off x="457200" y="2834640"/>
            <a:ext cx="4023360" cy="1783080"/>
          </a:xfrm>
          <a:prstGeom prst="roundRect">
            <a:avLst>
              <a:gd name="adj" fmla="val 5128"/>
            </a:avLst>
          </a:prstGeom>
          <a:solidFill>
            <a:srgbClr val="EEF3F9"/>
          </a:solidFill>
          <a:ln w="12700">
            <a:solidFill>
              <a:srgbClr val="EEF3F9"/>
            </a:solidFill>
            <a:prstDash val="solid"/>
          </a:ln>
        </p:spPr>
        <p:txBody>
          <a:bodyPr/>
          <a:lstStyle/>
          <a:p>
            <a:endParaRPr lang="en-VN"/>
          </a:p>
        </p:txBody>
      </p:sp>
      <p:sp>
        <p:nvSpPr>
          <p:cNvPr id="13" name="Text 11"/>
          <p:cNvSpPr txBox="1"/>
          <p:nvPr/>
        </p:nvSpPr>
        <p:spPr>
          <a:xfrm>
            <a:off x="640080" y="2926080"/>
            <a:ext cx="3657600" cy="320040"/>
          </a:xfrm>
          <a:prstGeom prst="rect">
            <a:avLst/>
          </a:prstGeom>
          <a:noFill/>
          <a:ln/>
        </p:spPr>
        <p:txBody>
          <a:bodyPr wrap="square" lIns="0" tIns="0" rIns="0" bIns="0" rtlCol="0" anchor="ctr"/>
          <a:lstStyle/>
          <a:p>
            <a:pPr marL="0" indent="0">
              <a:buNone/>
            </a:pPr>
            <a:r>
              <a:rPr lang="en-US" sz="1800" b="1" dirty="0">
                <a:solidFill>
                  <a:srgbClr val="0B2545"/>
                </a:solidFill>
                <a:latin typeface="Calibri" pitchFamily="34" charset="0"/>
                <a:ea typeface="Calibri" pitchFamily="34" charset="-122"/>
                <a:cs typeface="Calibri" pitchFamily="34" charset="-120"/>
              </a:rPr>
              <a:t>Mô hình đe dọa</a:t>
            </a:r>
            <a:endParaRPr lang="en-US" sz="1800" dirty="0"/>
          </a:p>
        </p:txBody>
      </p:sp>
      <p:sp>
        <p:nvSpPr>
          <p:cNvPr id="14" name="Text 12"/>
          <p:cNvSpPr txBox="1"/>
          <p:nvPr/>
        </p:nvSpPr>
        <p:spPr>
          <a:xfrm>
            <a:off x="640080" y="3291840"/>
            <a:ext cx="3657600" cy="1234440"/>
          </a:xfrm>
          <a:prstGeom prst="rect">
            <a:avLst/>
          </a:prstGeom>
          <a:noFill/>
          <a:ln/>
        </p:spPr>
        <p:txBody>
          <a:bodyPr wrap="square" lIns="0" tIns="0" rIns="0" bIns="0" rtlCol="0" anchor="t"/>
          <a:lstStyle/>
          <a:p>
            <a:pPr marL="342900" indent="-342900">
              <a:spcAft>
                <a:spcPts val="400"/>
              </a:spcAft>
              <a:buSzPct val="100000"/>
              <a:buChar char="•"/>
            </a:pPr>
            <a:r>
              <a:rPr lang="en-US" sz="1600" dirty="0">
                <a:solidFill>
                  <a:srgbClr val="1F2937"/>
                </a:solidFill>
                <a:latin typeface="Calibri" pitchFamily="34" charset="0"/>
                <a:ea typeface="Calibri" pitchFamily="34" charset="-122"/>
                <a:cs typeface="Calibri" pitchFamily="34" charset="-120"/>
              </a:rPr>
              <a:t>Hộp đen: chỉ gửi x, nhận f(x)</a:t>
            </a:r>
            <a:endParaRPr lang="en-US" sz="1600" dirty="0"/>
          </a:p>
          <a:p>
            <a:pPr marL="342900" indent="-342900">
              <a:spcAft>
                <a:spcPts val="400"/>
              </a:spcAft>
              <a:buSzPct val="100000"/>
              <a:buChar char="•"/>
            </a:pPr>
            <a:r>
              <a:rPr lang="en-US" sz="1600" dirty="0">
                <a:solidFill>
                  <a:srgbClr val="1F2937"/>
                </a:solidFill>
                <a:latin typeface="Calibri" pitchFamily="34" charset="0"/>
                <a:ea typeface="Calibri" pitchFamily="34" charset="-122"/>
                <a:cs typeface="Calibri" pitchFamily="34" charset="-120"/>
              </a:rPr>
              <a:t>LiRA, RMIA dùng shadow model</a:t>
            </a:r>
            <a:endParaRPr lang="en-US" sz="1600" dirty="0"/>
          </a:p>
          <a:p>
            <a:pPr marL="342900" indent="-342900">
              <a:spcAft>
                <a:spcPts val="400"/>
              </a:spcAft>
              <a:buSzPct val="100000"/>
              <a:buChar char="•"/>
            </a:pPr>
            <a:r>
              <a:rPr lang="en-US" sz="1600" dirty="0">
                <a:solidFill>
                  <a:srgbClr val="1F2937"/>
                </a:solidFill>
                <a:latin typeface="Calibri" pitchFamily="34" charset="0"/>
                <a:ea typeface="Calibri" pitchFamily="34" charset="-122"/>
                <a:cs typeface="Calibri" pitchFamily="34" charset="-120"/>
              </a:rPr>
              <a:t>Temporal là gray-box</a:t>
            </a:r>
            <a:endParaRPr lang="en-US" sz="1600" dirty="0"/>
          </a:p>
        </p:txBody>
      </p:sp>
      <p:sp>
        <p:nvSpPr>
          <p:cNvPr id="15" name="Shape 13"/>
          <p:cNvSpPr/>
          <p:nvPr/>
        </p:nvSpPr>
        <p:spPr>
          <a:xfrm>
            <a:off x="4663440" y="2834640"/>
            <a:ext cx="4023360" cy="1783080"/>
          </a:xfrm>
          <a:prstGeom prst="roundRect">
            <a:avLst>
              <a:gd name="adj" fmla="val 5128"/>
            </a:avLst>
          </a:prstGeom>
          <a:solidFill>
            <a:srgbClr val="13315C"/>
          </a:solidFill>
          <a:ln w="12700">
            <a:solidFill>
              <a:srgbClr val="13315C"/>
            </a:solidFill>
            <a:prstDash val="solid"/>
          </a:ln>
        </p:spPr>
        <p:txBody>
          <a:bodyPr/>
          <a:lstStyle/>
          <a:p>
            <a:endParaRPr lang="en-VN"/>
          </a:p>
        </p:txBody>
      </p:sp>
      <p:sp>
        <p:nvSpPr>
          <p:cNvPr id="16" name="Text 14"/>
          <p:cNvSpPr txBox="1"/>
          <p:nvPr/>
        </p:nvSpPr>
        <p:spPr>
          <a:xfrm>
            <a:off x="4846320" y="2926080"/>
            <a:ext cx="3657600" cy="320040"/>
          </a:xfrm>
          <a:prstGeom prst="rect">
            <a:avLst/>
          </a:prstGeom>
          <a:noFill/>
          <a:ln/>
        </p:spPr>
        <p:txBody>
          <a:bodyPr wrap="square" lIns="0" tIns="0" rIns="0" bIns="0" rtlCol="0" anchor="ctr"/>
          <a:lstStyle/>
          <a:p>
            <a:pPr marL="0" indent="0">
              <a:buNone/>
            </a:pPr>
            <a:r>
              <a:rPr lang="en-US" sz="1800" b="1" dirty="0">
                <a:solidFill>
                  <a:srgbClr val="FFB199"/>
                </a:solidFill>
                <a:latin typeface="Calibri" pitchFamily="34" charset="0"/>
                <a:ea typeface="Calibri" pitchFamily="34" charset="-122"/>
                <a:cs typeface="Calibri" pitchFamily="34" charset="-120"/>
              </a:rPr>
              <a:t>Chỉ số chính</a:t>
            </a:r>
            <a:endParaRPr lang="en-US" sz="1800" dirty="0"/>
          </a:p>
        </p:txBody>
      </p:sp>
      <p:sp>
        <p:nvSpPr>
          <p:cNvPr id="17" name="Text 15"/>
          <p:cNvSpPr txBox="1"/>
          <p:nvPr/>
        </p:nvSpPr>
        <p:spPr>
          <a:xfrm>
            <a:off x="4846320" y="3291840"/>
            <a:ext cx="3657600" cy="502920"/>
          </a:xfrm>
          <a:prstGeom prst="rect">
            <a:avLst/>
          </a:prstGeom>
          <a:noFill/>
          <a:ln/>
        </p:spPr>
        <p:txBody>
          <a:bodyPr wrap="square" lIns="0" tIns="0" rIns="0" bIns="0" rtlCol="0" anchor="ctr"/>
          <a:lstStyle/>
          <a:p>
            <a:pPr marL="0" indent="0">
              <a:buNone/>
            </a:pPr>
            <a:r>
              <a:rPr lang="en-US" sz="2600" b="1" dirty="0">
                <a:solidFill>
                  <a:srgbClr val="FFFFFF"/>
                </a:solidFill>
                <a:latin typeface="Cambria" pitchFamily="34" charset="0"/>
                <a:ea typeface="Cambria" pitchFamily="34" charset="-122"/>
                <a:cs typeface="Cambria" pitchFamily="34" charset="-120"/>
              </a:rPr>
              <a:t>TPR @ 0,1% FPR</a:t>
            </a:r>
            <a:endParaRPr lang="en-US" sz="2600" dirty="0"/>
          </a:p>
        </p:txBody>
      </p:sp>
      <p:sp>
        <p:nvSpPr>
          <p:cNvPr id="18" name="Text 16"/>
          <p:cNvSpPr txBox="1"/>
          <p:nvPr/>
        </p:nvSpPr>
        <p:spPr>
          <a:xfrm>
            <a:off x="4846320" y="3840480"/>
            <a:ext cx="3657600" cy="685800"/>
          </a:xfrm>
          <a:prstGeom prst="rect">
            <a:avLst/>
          </a:prstGeom>
          <a:noFill/>
          <a:ln/>
        </p:spPr>
        <p:txBody>
          <a:bodyPr wrap="square" lIns="0" tIns="0" rIns="0" bIns="0" rtlCol="0" anchor="t"/>
          <a:lstStyle/>
          <a:p>
            <a:pPr marL="0" indent="0">
              <a:buNone/>
            </a:pPr>
            <a:r>
              <a:rPr lang="en-US" sz="1500" dirty="0">
                <a:solidFill>
                  <a:srgbClr val="CADCFC"/>
                </a:solidFill>
                <a:latin typeface="Calibri" pitchFamily="34" charset="0"/>
                <a:ea typeface="Calibri" pitchFamily="34" charset="-122"/>
                <a:cs typeface="Calibri" pitchFamily="34" charset="-120"/>
              </a:rPr>
              <a:t>Tiêu chuẩn low-FPR [2], CI bootstrap 95%, seed 42</a:t>
            </a:r>
            <a:endParaRPr lang="en-US" sz="1500" dirty="0"/>
          </a:p>
        </p:txBody>
      </p:sp>
      <p:sp>
        <p:nvSpPr>
          <p:cNvPr id="25" name="Slide Number Placeholder 0"/>
          <p:cNvSpPr>
            <a:spLocks noGrp="1"/>
          </p:cNvSpPr>
          <p:nvPr>
            <p:ph type="sldNum" sz="quarter" idx="4294967295"/>
          </p:nvPr>
        </p:nvSpPr>
        <p:spPr>
          <a:xfrm>
            <a:off x="8229600" y="4773168"/>
            <a:ext cx="548640" cy="274320"/>
          </a:xfrm>
          <a:prstGeom prst="rect">
            <a:avLst/>
          </a:prstGeom>
          <a:extLst>
            <a:ext uri="{C572A759-6A51-4108-AA02-DFA0A04FC94B}">
              <ma14:wrappingTextBoxFlag xmlns:ma14="http://schemas.microsoft.com/office/mac/drawingml/2011/main" xmlns="" val="0"/>
            </a:ext>
          </a:extLst>
        </p:spPr>
        <p:txBody>
          <a:bodyPr/>
          <a:lstStyle>
            <a:lvl1pPr>
              <a:defRPr sz="1200">
                <a:solidFill>
                  <a:srgbClr val="6B7280"/>
                </a:solidFill>
                <a:latin typeface="Calibri"/>
                <a:ea typeface="Calibri"/>
                <a:cs typeface="Calibri"/>
              </a:defRPr>
            </a:lvl1pPr>
          </a:lstStyle>
          <a:p>
            <a:pPr algn="r"/>
            <a:fld id="{F7021451-1387-4CA6-816F-3879F97B5CBC}" type="slidenum">
              <a:rPr lang="en-US" b="0"/>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685800"/>
          </a:xfrm>
          <a:prstGeom prst="rect">
            <a:avLst/>
          </a:prstGeom>
          <a:noFill/>
          <a:ln/>
        </p:spPr>
        <p:txBody>
          <a:bodyPr wrap="square" lIns="0" tIns="0" rIns="0" bIns="0" rtlCol="0" anchor="ctr"/>
          <a:lstStyle/>
          <a:p>
            <a:pPr marL="0" indent="0">
              <a:buNone/>
            </a:pPr>
            <a:r>
              <a:rPr lang="en-US" sz="3000" b="1" dirty="0">
                <a:solidFill>
                  <a:srgbClr val="0B2545"/>
                </a:solidFill>
                <a:latin typeface="Cambria" pitchFamily="34" charset="0"/>
                <a:ea typeface="Cambria" pitchFamily="34" charset="-122"/>
                <a:cs typeface="Cambria" pitchFamily="34" charset="-120"/>
              </a:rPr>
              <a:t>Bốn họ tấn công</a:t>
            </a:r>
            <a:endParaRPr lang="en-US" sz="3000" dirty="0"/>
          </a:p>
        </p:txBody>
      </p:sp>
      <p:sp>
        <p:nvSpPr>
          <p:cNvPr id="3" name="Shape 1"/>
          <p:cNvSpPr/>
          <p:nvPr/>
        </p:nvSpPr>
        <p:spPr>
          <a:xfrm>
            <a:off x="457200" y="1097280"/>
            <a:ext cx="4023360" cy="1691640"/>
          </a:xfrm>
          <a:prstGeom prst="roundRect">
            <a:avLst>
              <a:gd name="adj" fmla="val 5405"/>
            </a:avLst>
          </a:prstGeom>
          <a:solidFill>
            <a:srgbClr val="EEF3F9"/>
          </a:solidFill>
          <a:ln w="12700">
            <a:solidFill>
              <a:srgbClr val="EEF3F9"/>
            </a:solidFill>
            <a:prstDash val="solid"/>
          </a:ln>
        </p:spPr>
        <p:txBody>
          <a:bodyPr/>
          <a:lstStyle/>
          <a:p>
            <a:endParaRPr lang="en-VN"/>
          </a:p>
        </p:txBody>
      </p:sp>
      <p:sp>
        <p:nvSpPr>
          <p:cNvPr id="4" name="Text 2"/>
          <p:cNvSpPr/>
          <p:nvPr/>
        </p:nvSpPr>
        <p:spPr>
          <a:xfrm>
            <a:off x="640080" y="1280160"/>
            <a:ext cx="457200" cy="457200"/>
          </a:xfrm>
          <a:prstGeom prst="ellipse">
            <a:avLst/>
          </a:prstGeom>
          <a:solidFill>
            <a:srgbClr val="E4572E"/>
          </a:solid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1</a:t>
            </a:r>
            <a:endParaRPr lang="en-US" sz="1600" dirty="0"/>
          </a:p>
        </p:txBody>
      </p:sp>
      <p:sp>
        <p:nvSpPr>
          <p:cNvPr id="5" name="Text 3"/>
          <p:cNvSpPr txBox="1"/>
          <p:nvPr/>
        </p:nvSpPr>
        <p:spPr>
          <a:xfrm>
            <a:off x="1234440" y="1234440"/>
            <a:ext cx="3108960" cy="320040"/>
          </a:xfrm>
          <a:prstGeom prst="rect">
            <a:avLst/>
          </a:prstGeom>
          <a:noFill/>
          <a:ln/>
        </p:spPr>
        <p:txBody>
          <a:bodyPr wrap="square" lIns="0" tIns="0" rIns="0" bIns="0" rtlCol="0" anchor="ctr"/>
          <a:lstStyle/>
          <a:p>
            <a:pPr marL="0" indent="0">
              <a:buNone/>
            </a:pPr>
            <a:r>
              <a:rPr lang="en-US" sz="1800" b="1" dirty="0">
                <a:solidFill>
                  <a:srgbClr val="0B2545"/>
                </a:solidFill>
                <a:latin typeface="Calibri" pitchFamily="34" charset="0"/>
                <a:ea typeface="Calibri" pitchFamily="34" charset="-122"/>
                <a:cs typeface="Calibri" pitchFamily="34" charset="-120"/>
              </a:rPr>
              <a:t>Loss / Conf / Entropy [9, 10]</a:t>
            </a:r>
            <a:endParaRPr lang="en-US" sz="1800" dirty="0"/>
          </a:p>
        </p:txBody>
      </p:sp>
      <p:sp>
        <p:nvSpPr>
          <p:cNvPr id="6" name="Text 4"/>
          <p:cNvSpPr txBox="1"/>
          <p:nvPr/>
        </p:nvSpPr>
        <p:spPr>
          <a:xfrm>
            <a:off x="1234440" y="1554480"/>
            <a:ext cx="3108960" cy="274320"/>
          </a:xfrm>
          <a:prstGeom prst="rect">
            <a:avLst/>
          </a:prstGeom>
          <a:noFill/>
          <a:ln/>
        </p:spPr>
        <p:txBody>
          <a:bodyPr wrap="square" lIns="0" tIns="0" rIns="0" bIns="0" rtlCol="0" anchor="ctr"/>
          <a:lstStyle/>
          <a:p>
            <a:pPr marL="0" indent="0">
              <a:buNone/>
            </a:pPr>
            <a:r>
              <a:rPr lang="en-US" sz="1400" b="1" dirty="0">
                <a:solidFill>
                  <a:srgbClr val="E4572E"/>
                </a:solidFill>
                <a:latin typeface="Calibri" pitchFamily="34" charset="0"/>
                <a:ea typeface="Calibri" pitchFamily="34" charset="-122"/>
                <a:cs typeface="Calibri" pitchFamily="34" charset="-120"/>
              </a:rPr>
              <a:t>Black-box</a:t>
            </a:r>
            <a:endParaRPr lang="en-US" sz="1400" dirty="0"/>
          </a:p>
        </p:txBody>
      </p:sp>
      <p:sp>
        <p:nvSpPr>
          <p:cNvPr id="7" name="Text 5"/>
          <p:cNvSpPr txBox="1"/>
          <p:nvPr/>
        </p:nvSpPr>
        <p:spPr>
          <a:xfrm>
            <a:off x="640080" y="1920240"/>
            <a:ext cx="3657600" cy="777240"/>
          </a:xfrm>
          <a:prstGeom prst="rect">
            <a:avLst/>
          </a:prstGeom>
          <a:noFill/>
          <a:ln/>
        </p:spPr>
        <p:txBody>
          <a:bodyPr wrap="square" lIns="0" tIns="0" rIns="0" bIns="0" rtlCol="0" anchor="t"/>
          <a:lstStyle/>
          <a:p>
            <a:pPr marL="0" indent="0">
              <a:buNone/>
            </a:pPr>
            <a:r>
              <a:rPr lang="en-US" sz="1500" dirty="0">
                <a:solidFill>
                  <a:srgbClr val="1F2937"/>
                </a:solidFill>
                <a:latin typeface="Calibri" pitchFamily="34" charset="0"/>
                <a:ea typeface="Calibri" pitchFamily="34" charset="-122"/>
                <a:cs typeface="Calibri" pitchFamily="34" charset="-120"/>
              </a:rPr>
              <a:t>Điểm số đơn giản từ đầu ra mô hình, không cần shadow model.</a:t>
            </a:r>
            <a:endParaRPr lang="en-US" sz="1500" dirty="0"/>
          </a:p>
        </p:txBody>
      </p:sp>
      <p:sp>
        <p:nvSpPr>
          <p:cNvPr id="8" name="Shape 6"/>
          <p:cNvSpPr/>
          <p:nvPr/>
        </p:nvSpPr>
        <p:spPr>
          <a:xfrm>
            <a:off x="4663440" y="1097280"/>
            <a:ext cx="4023360" cy="1691640"/>
          </a:xfrm>
          <a:prstGeom prst="roundRect">
            <a:avLst>
              <a:gd name="adj" fmla="val 5405"/>
            </a:avLst>
          </a:prstGeom>
          <a:solidFill>
            <a:srgbClr val="EEF3F9"/>
          </a:solidFill>
          <a:ln w="12700">
            <a:solidFill>
              <a:srgbClr val="EEF3F9"/>
            </a:solidFill>
            <a:prstDash val="solid"/>
          </a:ln>
        </p:spPr>
        <p:txBody>
          <a:bodyPr/>
          <a:lstStyle/>
          <a:p>
            <a:endParaRPr lang="en-VN"/>
          </a:p>
        </p:txBody>
      </p:sp>
      <p:sp>
        <p:nvSpPr>
          <p:cNvPr id="9" name="Text 7"/>
          <p:cNvSpPr/>
          <p:nvPr/>
        </p:nvSpPr>
        <p:spPr>
          <a:xfrm>
            <a:off x="4846320" y="1280160"/>
            <a:ext cx="457200" cy="457200"/>
          </a:xfrm>
          <a:prstGeom prst="ellipse">
            <a:avLst/>
          </a:prstGeom>
          <a:solidFill>
            <a:srgbClr val="E4572E"/>
          </a:solid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2</a:t>
            </a:r>
            <a:endParaRPr lang="en-US" sz="1600" dirty="0"/>
          </a:p>
        </p:txBody>
      </p:sp>
      <p:sp>
        <p:nvSpPr>
          <p:cNvPr id="10" name="Text 8"/>
          <p:cNvSpPr txBox="1"/>
          <p:nvPr/>
        </p:nvSpPr>
        <p:spPr>
          <a:xfrm>
            <a:off x="5440680" y="1234440"/>
            <a:ext cx="3108960" cy="320040"/>
          </a:xfrm>
          <a:prstGeom prst="rect">
            <a:avLst/>
          </a:prstGeom>
          <a:noFill/>
          <a:ln/>
        </p:spPr>
        <p:txBody>
          <a:bodyPr wrap="square" lIns="0" tIns="0" rIns="0" bIns="0" rtlCol="0" anchor="ctr"/>
          <a:lstStyle/>
          <a:p>
            <a:pPr marL="0" indent="0">
              <a:buNone/>
            </a:pPr>
            <a:r>
              <a:rPr lang="en-US" sz="1800" b="1" dirty="0">
                <a:solidFill>
                  <a:srgbClr val="0B2545"/>
                </a:solidFill>
                <a:latin typeface="Calibri" pitchFamily="34" charset="0"/>
                <a:ea typeface="Calibri" pitchFamily="34" charset="-122"/>
                <a:cs typeface="Calibri" pitchFamily="34" charset="-120"/>
              </a:rPr>
              <a:t>LiRA [2]</a:t>
            </a:r>
            <a:endParaRPr lang="en-US" sz="1800" dirty="0"/>
          </a:p>
        </p:txBody>
      </p:sp>
      <p:sp>
        <p:nvSpPr>
          <p:cNvPr id="11" name="Text 9"/>
          <p:cNvSpPr txBox="1"/>
          <p:nvPr/>
        </p:nvSpPr>
        <p:spPr>
          <a:xfrm>
            <a:off x="5440680" y="1554480"/>
            <a:ext cx="3108960" cy="274320"/>
          </a:xfrm>
          <a:prstGeom prst="rect">
            <a:avLst/>
          </a:prstGeom>
          <a:noFill/>
          <a:ln/>
        </p:spPr>
        <p:txBody>
          <a:bodyPr wrap="square" lIns="0" tIns="0" rIns="0" bIns="0" rtlCol="0" anchor="ctr"/>
          <a:lstStyle/>
          <a:p>
            <a:pPr marL="0" indent="0">
              <a:buNone/>
            </a:pPr>
            <a:r>
              <a:rPr lang="en-US" sz="1400" b="1" dirty="0">
                <a:solidFill>
                  <a:srgbClr val="E4572E"/>
                </a:solidFill>
                <a:latin typeface="Calibri" pitchFamily="34" charset="0"/>
                <a:ea typeface="Calibri" pitchFamily="34" charset="-122"/>
                <a:cs typeface="Calibri" pitchFamily="34" charset="-120"/>
              </a:rPr>
              <a:t>Black-box</a:t>
            </a:r>
            <a:endParaRPr lang="en-US" sz="1400" dirty="0"/>
          </a:p>
        </p:txBody>
      </p:sp>
      <p:sp>
        <p:nvSpPr>
          <p:cNvPr id="12" name="Text 10"/>
          <p:cNvSpPr txBox="1"/>
          <p:nvPr/>
        </p:nvSpPr>
        <p:spPr>
          <a:xfrm>
            <a:off x="4846320" y="1920240"/>
            <a:ext cx="3657600" cy="777240"/>
          </a:xfrm>
          <a:prstGeom prst="rect">
            <a:avLst/>
          </a:prstGeom>
          <a:noFill/>
          <a:ln/>
        </p:spPr>
        <p:txBody>
          <a:bodyPr wrap="square" lIns="0" tIns="0" rIns="0" bIns="0" rtlCol="0" anchor="t"/>
          <a:lstStyle/>
          <a:p>
            <a:pPr marL="0" indent="0">
              <a:buNone/>
            </a:pPr>
            <a:r>
              <a:rPr lang="en-US" sz="1500" dirty="0">
                <a:solidFill>
                  <a:srgbClr val="1F2937"/>
                </a:solidFill>
                <a:latin typeface="Calibri" pitchFamily="34" charset="0"/>
                <a:ea typeface="Calibri" pitchFamily="34" charset="-122"/>
                <a:cs typeface="Calibri" pitchFamily="34" charset="-120"/>
              </a:rPr>
              <a:t>Shadow model: so khả năng quan sát bản ghi khi nó nằm trong hoặc ngoài tập huấn luyện.</a:t>
            </a:r>
            <a:endParaRPr lang="en-US" sz="1500" dirty="0"/>
          </a:p>
        </p:txBody>
      </p:sp>
      <p:sp>
        <p:nvSpPr>
          <p:cNvPr id="13" name="Shape 11"/>
          <p:cNvSpPr/>
          <p:nvPr/>
        </p:nvSpPr>
        <p:spPr>
          <a:xfrm>
            <a:off x="457200" y="2880360"/>
            <a:ext cx="4023360" cy="1691640"/>
          </a:xfrm>
          <a:prstGeom prst="roundRect">
            <a:avLst>
              <a:gd name="adj" fmla="val 5405"/>
            </a:avLst>
          </a:prstGeom>
          <a:solidFill>
            <a:srgbClr val="EEF3F9"/>
          </a:solidFill>
          <a:ln w="12700">
            <a:solidFill>
              <a:srgbClr val="EEF3F9"/>
            </a:solidFill>
            <a:prstDash val="solid"/>
          </a:ln>
        </p:spPr>
        <p:txBody>
          <a:bodyPr/>
          <a:lstStyle/>
          <a:p>
            <a:endParaRPr lang="en-VN"/>
          </a:p>
        </p:txBody>
      </p:sp>
      <p:sp>
        <p:nvSpPr>
          <p:cNvPr id="14" name="Text 12"/>
          <p:cNvSpPr/>
          <p:nvPr/>
        </p:nvSpPr>
        <p:spPr>
          <a:xfrm>
            <a:off x="640080" y="3063240"/>
            <a:ext cx="457200" cy="457200"/>
          </a:xfrm>
          <a:prstGeom prst="ellipse">
            <a:avLst/>
          </a:prstGeom>
          <a:solidFill>
            <a:srgbClr val="E4572E"/>
          </a:solid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3</a:t>
            </a:r>
            <a:endParaRPr lang="en-US" sz="1600" dirty="0"/>
          </a:p>
        </p:txBody>
      </p:sp>
      <p:sp>
        <p:nvSpPr>
          <p:cNvPr id="15" name="Text 13"/>
          <p:cNvSpPr txBox="1"/>
          <p:nvPr/>
        </p:nvSpPr>
        <p:spPr>
          <a:xfrm>
            <a:off x="1234440" y="3017520"/>
            <a:ext cx="3108960" cy="320040"/>
          </a:xfrm>
          <a:prstGeom prst="rect">
            <a:avLst/>
          </a:prstGeom>
          <a:noFill/>
          <a:ln/>
        </p:spPr>
        <p:txBody>
          <a:bodyPr wrap="square" lIns="0" tIns="0" rIns="0" bIns="0" rtlCol="0" anchor="ctr"/>
          <a:lstStyle/>
          <a:p>
            <a:pPr marL="0" indent="0">
              <a:buNone/>
            </a:pPr>
            <a:r>
              <a:rPr lang="en-US" sz="1800" b="1" dirty="0">
                <a:solidFill>
                  <a:srgbClr val="0B2545"/>
                </a:solidFill>
                <a:latin typeface="Calibri" pitchFamily="34" charset="0"/>
                <a:ea typeface="Calibri" pitchFamily="34" charset="-122"/>
                <a:cs typeface="Calibri" pitchFamily="34" charset="-120"/>
              </a:rPr>
              <a:t>RMIA [12]</a:t>
            </a:r>
            <a:endParaRPr lang="en-US" sz="1800" dirty="0"/>
          </a:p>
        </p:txBody>
      </p:sp>
      <p:sp>
        <p:nvSpPr>
          <p:cNvPr id="16" name="Text 14"/>
          <p:cNvSpPr txBox="1"/>
          <p:nvPr/>
        </p:nvSpPr>
        <p:spPr>
          <a:xfrm>
            <a:off x="1234440" y="3337560"/>
            <a:ext cx="3108960" cy="274320"/>
          </a:xfrm>
          <a:prstGeom prst="rect">
            <a:avLst/>
          </a:prstGeom>
          <a:noFill/>
          <a:ln/>
        </p:spPr>
        <p:txBody>
          <a:bodyPr wrap="square" lIns="0" tIns="0" rIns="0" bIns="0" rtlCol="0" anchor="ctr"/>
          <a:lstStyle/>
          <a:p>
            <a:pPr marL="0" indent="0">
              <a:buNone/>
            </a:pPr>
            <a:r>
              <a:rPr lang="en-US" sz="1400" b="1" dirty="0">
                <a:solidFill>
                  <a:srgbClr val="E4572E"/>
                </a:solidFill>
                <a:latin typeface="Calibri" pitchFamily="34" charset="0"/>
                <a:ea typeface="Calibri" pitchFamily="34" charset="-122"/>
                <a:cs typeface="Calibri" pitchFamily="34" charset="-120"/>
              </a:rPr>
              <a:t>Black-box</a:t>
            </a:r>
            <a:endParaRPr lang="en-US" sz="1400" dirty="0"/>
          </a:p>
        </p:txBody>
      </p:sp>
      <p:sp>
        <p:nvSpPr>
          <p:cNvPr id="17" name="Text 15"/>
          <p:cNvSpPr txBox="1"/>
          <p:nvPr/>
        </p:nvSpPr>
        <p:spPr>
          <a:xfrm>
            <a:off x="640080" y="3703320"/>
            <a:ext cx="3657600" cy="777240"/>
          </a:xfrm>
          <a:prstGeom prst="rect">
            <a:avLst/>
          </a:prstGeom>
          <a:noFill/>
          <a:ln/>
        </p:spPr>
        <p:txBody>
          <a:bodyPr wrap="square" lIns="0" tIns="0" rIns="0" bIns="0" rtlCol="0" anchor="t"/>
          <a:lstStyle/>
          <a:p>
            <a:pPr marL="0" indent="0">
              <a:buNone/>
            </a:pPr>
            <a:r>
              <a:rPr lang="en-US" sz="1500" dirty="0">
                <a:solidFill>
                  <a:srgbClr val="1F2937"/>
                </a:solidFill>
                <a:latin typeface="Calibri" pitchFamily="34" charset="0"/>
                <a:ea typeface="Calibri" pitchFamily="34" charset="-122"/>
                <a:cs typeface="Calibri" pitchFamily="34" charset="-120"/>
              </a:rPr>
              <a:t>Đối chiếu bản ghi với tập tham chiếu, hiệu chỉnh theo độ khó của mẫu [11].</a:t>
            </a:r>
            <a:endParaRPr lang="en-US" sz="1500" dirty="0"/>
          </a:p>
        </p:txBody>
      </p:sp>
      <p:sp>
        <p:nvSpPr>
          <p:cNvPr id="18" name="Shape 16"/>
          <p:cNvSpPr/>
          <p:nvPr/>
        </p:nvSpPr>
        <p:spPr>
          <a:xfrm>
            <a:off x="4663440" y="2880360"/>
            <a:ext cx="4023360" cy="1691640"/>
          </a:xfrm>
          <a:prstGeom prst="roundRect">
            <a:avLst>
              <a:gd name="adj" fmla="val 5405"/>
            </a:avLst>
          </a:prstGeom>
          <a:solidFill>
            <a:srgbClr val="EEF3F9"/>
          </a:solidFill>
          <a:ln w="12700">
            <a:solidFill>
              <a:srgbClr val="EEF3F9"/>
            </a:solidFill>
            <a:prstDash val="solid"/>
          </a:ln>
        </p:spPr>
        <p:txBody>
          <a:bodyPr/>
          <a:lstStyle/>
          <a:p>
            <a:endParaRPr lang="en-VN"/>
          </a:p>
        </p:txBody>
      </p:sp>
      <p:sp>
        <p:nvSpPr>
          <p:cNvPr id="19" name="Text 17"/>
          <p:cNvSpPr/>
          <p:nvPr/>
        </p:nvSpPr>
        <p:spPr>
          <a:xfrm>
            <a:off x="4846320" y="3063240"/>
            <a:ext cx="457200" cy="457200"/>
          </a:xfrm>
          <a:prstGeom prst="ellipse">
            <a:avLst/>
          </a:prstGeom>
          <a:solidFill>
            <a:srgbClr val="3D6CB9"/>
          </a:solid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4</a:t>
            </a:r>
            <a:endParaRPr lang="en-US" sz="1600" dirty="0"/>
          </a:p>
        </p:txBody>
      </p:sp>
      <p:sp>
        <p:nvSpPr>
          <p:cNvPr id="20" name="Text 18"/>
          <p:cNvSpPr txBox="1"/>
          <p:nvPr/>
        </p:nvSpPr>
        <p:spPr>
          <a:xfrm>
            <a:off x="5440680" y="3017520"/>
            <a:ext cx="3108960" cy="320040"/>
          </a:xfrm>
          <a:prstGeom prst="rect">
            <a:avLst/>
          </a:prstGeom>
          <a:noFill/>
          <a:ln/>
        </p:spPr>
        <p:txBody>
          <a:bodyPr wrap="square" lIns="0" tIns="0" rIns="0" bIns="0" rtlCol="0" anchor="ctr"/>
          <a:lstStyle/>
          <a:p>
            <a:pPr marL="0" indent="0">
              <a:buNone/>
            </a:pPr>
            <a:r>
              <a:rPr lang="en-US" sz="1800" b="1" dirty="0">
                <a:solidFill>
                  <a:srgbClr val="0B2545"/>
                </a:solidFill>
                <a:latin typeface="Calibri" pitchFamily="34" charset="0"/>
                <a:ea typeface="Calibri" pitchFamily="34" charset="-122"/>
                <a:cs typeface="Calibri" pitchFamily="34" charset="-120"/>
              </a:rPr>
              <a:t>Temporal Feature [13]</a:t>
            </a:r>
            <a:endParaRPr lang="en-US" sz="1800" dirty="0"/>
          </a:p>
        </p:txBody>
      </p:sp>
      <p:sp>
        <p:nvSpPr>
          <p:cNvPr id="21" name="Text 19"/>
          <p:cNvSpPr txBox="1"/>
          <p:nvPr/>
        </p:nvSpPr>
        <p:spPr>
          <a:xfrm>
            <a:off x="5440680" y="3337560"/>
            <a:ext cx="3108960" cy="274320"/>
          </a:xfrm>
          <a:prstGeom prst="rect">
            <a:avLst/>
          </a:prstGeom>
          <a:noFill/>
          <a:ln/>
        </p:spPr>
        <p:txBody>
          <a:bodyPr wrap="square" lIns="0" tIns="0" rIns="0" bIns="0" rtlCol="0" anchor="ctr"/>
          <a:lstStyle/>
          <a:p>
            <a:pPr marL="0" indent="0">
              <a:buNone/>
            </a:pPr>
            <a:r>
              <a:rPr lang="en-US" sz="1400" b="1" dirty="0">
                <a:solidFill>
                  <a:srgbClr val="3D6CB9"/>
                </a:solidFill>
                <a:latin typeface="Calibri" pitchFamily="34" charset="0"/>
                <a:ea typeface="Calibri" pitchFamily="34" charset="-122"/>
                <a:cs typeface="Calibri" pitchFamily="34" charset="-120"/>
              </a:rPr>
              <a:t>Gray-box</a:t>
            </a:r>
            <a:endParaRPr lang="en-US" sz="1400" dirty="0"/>
          </a:p>
        </p:txBody>
      </p:sp>
      <p:sp>
        <p:nvSpPr>
          <p:cNvPr id="22" name="Text 20"/>
          <p:cNvSpPr txBox="1"/>
          <p:nvPr/>
        </p:nvSpPr>
        <p:spPr>
          <a:xfrm>
            <a:off x="4846320" y="3703320"/>
            <a:ext cx="3657600" cy="777240"/>
          </a:xfrm>
          <a:prstGeom prst="rect">
            <a:avLst/>
          </a:prstGeom>
          <a:noFill/>
          <a:ln/>
        </p:spPr>
        <p:txBody>
          <a:bodyPr wrap="square" lIns="0" tIns="0" rIns="0" bIns="0" rtlCol="0" anchor="t"/>
          <a:lstStyle/>
          <a:p>
            <a:pPr marL="0" indent="0">
              <a:buNone/>
            </a:pPr>
            <a:r>
              <a:rPr lang="en-US" sz="1500" dirty="0">
                <a:solidFill>
                  <a:srgbClr val="1F2937"/>
                </a:solidFill>
                <a:latin typeface="Calibri" pitchFamily="34" charset="0"/>
                <a:ea typeface="Calibri" pitchFamily="34" charset="-122"/>
                <a:cs typeface="Calibri" pitchFamily="34" charset="-120"/>
              </a:rPr>
              <a:t>Bộ phân loại trên đặc trưng theo epoch, cần nhãn và checkpoint.</a:t>
            </a:r>
            <a:endParaRPr lang="en-US" sz="1500" dirty="0"/>
          </a:p>
        </p:txBody>
      </p:sp>
      <p:sp>
        <p:nvSpPr>
          <p:cNvPr id="25" name="Slide Number Placeholder 0"/>
          <p:cNvSpPr>
            <a:spLocks noGrp="1"/>
          </p:cNvSpPr>
          <p:nvPr>
            <p:ph type="sldNum" sz="quarter" idx="4294967295"/>
          </p:nvPr>
        </p:nvSpPr>
        <p:spPr>
          <a:xfrm>
            <a:off x="8229600" y="4773168"/>
            <a:ext cx="548640" cy="274320"/>
          </a:xfrm>
          <a:prstGeom prst="rect">
            <a:avLst/>
          </a:prstGeom>
          <a:extLst>
            <a:ext uri="{C572A759-6A51-4108-AA02-DFA0A04FC94B}">
              <ma14:wrappingTextBoxFlag xmlns:ma14="http://schemas.microsoft.com/office/mac/drawingml/2011/main" xmlns="" val="0"/>
            </a:ext>
          </a:extLst>
        </p:spPr>
        <p:txBody>
          <a:bodyPr/>
          <a:lstStyle>
            <a:lvl1pPr>
              <a:defRPr sz="1200">
                <a:solidFill>
                  <a:srgbClr val="6B7280"/>
                </a:solidFill>
                <a:latin typeface="Calibri"/>
                <a:ea typeface="Calibri"/>
                <a:cs typeface="Calibri"/>
              </a:defRPr>
            </a:lvl1pPr>
          </a:lstStyle>
          <a:p>
            <a:pPr algn="r"/>
            <a:fld id="{F7021451-1387-4CA6-816F-3879F97B5CBC}" type="slidenum">
              <a:rPr lang="en-US" b="0"/>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txBox="1"/>
          <p:nvPr/>
        </p:nvSpPr>
        <p:spPr>
          <a:xfrm>
            <a:off x="731520" y="1188720"/>
            <a:ext cx="2743200" cy="1188720"/>
          </a:xfrm>
          <a:prstGeom prst="rect">
            <a:avLst/>
          </a:prstGeom>
          <a:noFill/>
          <a:ln/>
        </p:spPr>
        <p:txBody>
          <a:bodyPr wrap="square" lIns="0" tIns="0" rIns="0" bIns="0" rtlCol="0" anchor="ctr"/>
          <a:lstStyle/>
          <a:p>
            <a:pPr marL="0" indent="0">
              <a:buNone/>
            </a:pPr>
            <a:r>
              <a:rPr lang="en-US" sz="8000" b="1" dirty="0">
                <a:solidFill>
                  <a:srgbClr val="E4572E"/>
                </a:solidFill>
                <a:latin typeface="Cambria" pitchFamily="34" charset="0"/>
                <a:ea typeface="Cambria" pitchFamily="34" charset="-122"/>
                <a:cs typeface="Cambria" pitchFamily="34" charset="-120"/>
              </a:rPr>
              <a:t>02</a:t>
            </a:r>
            <a:endParaRPr lang="en-US" sz="8000" dirty="0"/>
          </a:p>
        </p:txBody>
      </p:sp>
      <p:sp>
        <p:nvSpPr>
          <p:cNvPr id="3" name="Text 1"/>
          <p:cNvSpPr txBox="1"/>
          <p:nvPr/>
        </p:nvSpPr>
        <p:spPr>
          <a:xfrm>
            <a:off x="731520" y="2468880"/>
            <a:ext cx="7680960" cy="731520"/>
          </a:xfrm>
          <a:prstGeom prst="rect">
            <a:avLst/>
          </a:prstGeom>
          <a:noFill/>
          <a:ln/>
        </p:spPr>
        <p:txBody>
          <a:bodyPr wrap="square" lIns="0" tIns="0" rIns="0" bIns="0" rtlCol="0" anchor="ctr"/>
          <a:lstStyle/>
          <a:p>
            <a:pPr marL="0" indent="0">
              <a:buNone/>
            </a:pPr>
            <a:r>
              <a:rPr lang="en-US" sz="4000" b="1" dirty="0">
                <a:solidFill>
                  <a:srgbClr val="0B2545"/>
                </a:solidFill>
                <a:latin typeface="Cambria" pitchFamily="34" charset="0"/>
                <a:ea typeface="Cambria" pitchFamily="34" charset="-122"/>
                <a:cs typeface="Cambria" pitchFamily="34" charset="-120"/>
              </a:rPr>
              <a:t>Kết quả thực nghiệm</a:t>
            </a:r>
            <a:endParaRPr lang="en-US" sz="4000" dirty="0"/>
          </a:p>
        </p:txBody>
      </p:sp>
      <p:sp>
        <p:nvSpPr>
          <p:cNvPr id="4" name="Text 2"/>
          <p:cNvSpPr txBox="1"/>
          <p:nvPr/>
        </p:nvSpPr>
        <p:spPr>
          <a:xfrm>
            <a:off x="731520" y="3291840"/>
            <a:ext cx="7680960" cy="731520"/>
          </a:xfrm>
          <a:prstGeom prst="rect">
            <a:avLst/>
          </a:prstGeom>
          <a:noFill/>
          <a:ln/>
        </p:spPr>
        <p:txBody>
          <a:bodyPr wrap="square" lIns="0" tIns="0" rIns="0" bIns="0" rtlCol="0" anchor="ctr"/>
          <a:lstStyle/>
          <a:p>
            <a:pPr marL="0" indent="0">
              <a:buNone/>
            </a:pPr>
            <a:r>
              <a:rPr lang="en-US" sz="2000" dirty="0">
                <a:solidFill>
                  <a:srgbClr val="4B5B73"/>
                </a:solidFill>
                <a:latin typeface="Calibri" pitchFamily="34" charset="0"/>
                <a:ea typeface="Calibri" pitchFamily="34" charset="-122"/>
                <a:cs typeface="Calibri" pitchFamily="34" charset="-120"/>
              </a:rPr>
              <a:t>Tổng quan số liệu, trả lời RQ1 và RQ2</a:t>
            </a:r>
            <a:endParaRPr lang="en-US" sz="2000" dirty="0"/>
          </a:p>
        </p:txBody>
      </p:sp>
      <p:sp>
        <p:nvSpPr>
          <p:cNvPr id="25" name="Slide Number Placeholder 0"/>
          <p:cNvSpPr>
            <a:spLocks noGrp="1"/>
          </p:cNvSpPr>
          <p:nvPr>
            <p:ph type="sldNum" sz="quarter" idx="4294967295"/>
          </p:nvPr>
        </p:nvSpPr>
        <p:spPr>
          <a:xfrm>
            <a:off x="8229600" y="4773168"/>
            <a:ext cx="548640" cy="274320"/>
          </a:xfrm>
          <a:prstGeom prst="rect">
            <a:avLst/>
          </a:prstGeom>
          <a:extLst>
            <a:ext uri="{C572A759-6A51-4108-AA02-DFA0A04FC94B}">
              <ma14:wrappingTextBoxFlag xmlns:ma14="http://schemas.microsoft.com/office/mac/drawingml/2011/main" xmlns="" val="0"/>
            </a:ext>
          </a:extLst>
        </p:spPr>
        <p:txBody>
          <a:bodyPr/>
          <a:lstStyle>
            <a:lvl1pPr>
              <a:defRPr sz="1200">
                <a:solidFill>
                  <a:srgbClr val="6B7280"/>
                </a:solidFill>
                <a:latin typeface="Calibri"/>
                <a:ea typeface="Calibri"/>
                <a:cs typeface="Calibri"/>
              </a:defRPr>
            </a:lvl1pPr>
          </a:lstStyle>
          <a:p>
            <a:pPr algn="r"/>
            <a:fld id="{F7021451-1387-4CA6-816F-3879F97B5CBC}" type="slidenum">
              <a:rPr lang="en-US" b="0"/>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685800"/>
          </a:xfrm>
          <a:prstGeom prst="rect">
            <a:avLst/>
          </a:prstGeom>
          <a:noFill/>
          <a:ln/>
        </p:spPr>
        <p:txBody>
          <a:bodyPr wrap="square" lIns="0" tIns="0" rIns="0" bIns="0" rtlCol="0" anchor="ctr"/>
          <a:lstStyle/>
          <a:p>
            <a:pPr marL="0" indent="0">
              <a:buNone/>
            </a:pPr>
            <a:r>
              <a:rPr lang="en-US" sz="3000" b="1" dirty="0">
                <a:solidFill>
                  <a:srgbClr val="0B2545"/>
                </a:solidFill>
                <a:latin typeface="Cambria" pitchFamily="34" charset="0"/>
                <a:ea typeface="Cambria" pitchFamily="34" charset="-122"/>
                <a:cs typeface="Cambria" pitchFamily="34" charset="-120"/>
              </a:rPr>
              <a:t>Tổng quan: rò rỉ chênh nhau tới 16 lần</a:t>
            </a:r>
            <a:endParaRPr lang="en-US" sz="3000" dirty="0"/>
          </a:p>
        </p:txBody>
      </p:sp>
      <p:sp>
        <p:nvSpPr>
          <p:cNvPr id="3" name="Shape 1"/>
          <p:cNvSpPr/>
          <p:nvPr/>
        </p:nvSpPr>
        <p:spPr>
          <a:xfrm>
            <a:off x="457200" y="1097280"/>
            <a:ext cx="3383280" cy="3520440"/>
          </a:xfrm>
          <a:prstGeom prst="roundRect">
            <a:avLst>
              <a:gd name="adj" fmla="val 2703"/>
            </a:avLst>
          </a:prstGeom>
          <a:solidFill>
            <a:srgbClr val="EEF3F9"/>
          </a:solidFill>
          <a:ln w="12700">
            <a:solidFill>
              <a:srgbClr val="EEF3F9"/>
            </a:solidFill>
            <a:prstDash val="solid"/>
          </a:ln>
        </p:spPr>
        <p:txBody>
          <a:bodyPr/>
          <a:lstStyle/>
          <a:p>
            <a:endParaRPr lang="en-VN"/>
          </a:p>
        </p:txBody>
      </p:sp>
      <p:sp>
        <p:nvSpPr>
          <p:cNvPr id="4" name="Text 2"/>
          <p:cNvSpPr txBox="1"/>
          <p:nvPr/>
        </p:nvSpPr>
        <p:spPr>
          <a:xfrm>
            <a:off x="594360" y="1234440"/>
            <a:ext cx="3108960" cy="548640"/>
          </a:xfrm>
          <a:prstGeom prst="rect">
            <a:avLst/>
          </a:prstGeom>
          <a:noFill/>
          <a:ln/>
        </p:spPr>
        <p:txBody>
          <a:bodyPr wrap="square" lIns="0" tIns="0" rIns="0" bIns="0" rtlCol="0" anchor="ctr"/>
          <a:lstStyle/>
          <a:p>
            <a:pPr marL="0" indent="0">
              <a:buNone/>
            </a:pPr>
            <a:r>
              <a:rPr lang="en-US" sz="2800" b="1" dirty="0">
                <a:solidFill>
                  <a:srgbClr val="E4572E"/>
                </a:solidFill>
                <a:latin typeface="Cambria" pitchFamily="34" charset="0"/>
                <a:ea typeface="Cambria" pitchFamily="34" charset="-122"/>
                <a:cs typeface="Cambria" pitchFamily="34" charset="-120"/>
              </a:rPr>
              <a:t>0,6% → 9,9%</a:t>
            </a:r>
            <a:endParaRPr lang="en-US" sz="2800" dirty="0"/>
          </a:p>
        </p:txBody>
      </p:sp>
      <p:sp>
        <p:nvSpPr>
          <p:cNvPr id="5" name="Text 3"/>
          <p:cNvSpPr txBox="1"/>
          <p:nvPr/>
        </p:nvSpPr>
        <p:spPr>
          <a:xfrm>
            <a:off x="594360" y="1783080"/>
            <a:ext cx="3108960" cy="548640"/>
          </a:xfrm>
          <a:prstGeom prst="rect">
            <a:avLst/>
          </a:prstGeom>
          <a:noFill/>
          <a:ln/>
        </p:spPr>
        <p:txBody>
          <a:bodyPr wrap="square" lIns="0" tIns="0" rIns="0" bIns="0" rtlCol="0" anchor="t"/>
          <a:lstStyle/>
          <a:p>
            <a:pPr marL="0" indent="0">
              <a:buNone/>
            </a:pPr>
            <a:r>
              <a:rPr lang="en-US" sz="1600" dirty="0">
                <a:solidFill>
                  <a:srgbClr val="1F2937"/>
                </a:solidFill>
                <a:latin typeface="Calibri" pitchFamily="34" charset="0"/>
                <a:ea typeface="Calibri" pitchFamily="34" charset="-122"/>
                <a:cs typeface="Calibri" pitchFamily="34" charset="-120"/>
              </a:rPr>
              <a:t>phân loại, từ LSTM đến MOMENT</a:t>
            </a:r>
            <a:endParaRPr lang="en-US" sz="1600" dirty="0"/>
          </a:p>
        </p:txBody>
      </p:sp>
      <p:sp>
        <p:nvSpPr>
          <p:cNvPr id="6" name="Text 4"/>
          <p:cNvSpPr txBox="1"/>
          <p:nvPr/>
        </p:nvSpPr>
        <p:spPr>
          <a:xfrm>
            <a:off x="594360" y="2514600"/>
            <a:ext cx="3108960" cy="548640"/>
          </a:xfrm>
          <a:prstGeom prst="rect">
            <a:avLst/>
          </a:prstGeom>
          <a:noFill/>
          <a:ln/>
        </p:spPr>
        <p:txBody>
          <a:bodyPr wrap="square" lIns="0" tIns="0" rIns="0" bIns="0" rtlCol="0" anchor="ctr"/>
          <a:lstStyle/>
          <a:p>
            <a:pPr marL="0" indent="0">
              <a:buNone/>
            </a:pPr>
            <a:r>
              <a:rPr lang="en-US" sz="2800" b="1" dirty="0">
                <a:solidFill>
                  <a:srgbClr val="3D6CB9"/>
                </a:solidFill>
                <a:latin typeface="Cambria" pitchFamily="34" charset="0"/>
                <a:ea typeface="Cambria" pitchFamily="34" charset="-122"/>
                <a:cs typeface="Cambria" pitchFamily="34" charset="-120"/>
              </a:rPr>
              <a:t>0,76 – 0,78</a:t>
            </a:r>
            <a:endParaRPr lang="en-US" sz="2800" dirty="0"/>
          </a:p>
        </p:txBody>
      </p:sp>
      <p:sp>
        <p:nvSpPr>
          <p:cNvPr id="7" name="Text 5"/>
          <p:cNvSpPr txBox="1"/>
          <p:nvPr/>
        </p:nvSpPr>
        <p:spPr>
          <a:xfrm>
            <a:off x="594360" y="3063240"/>
            <a:ext cx="3108960" cy="640080"/>
          </a:xfrm>
          <a:prstGeom prst="rect">
            <a:avLst/>
          </a:prstGeom>
          <a:noFill/>
          <a:ln/>
        </p:spPr>
        <p:txBody>
          <a:bodyPr wrap="square" lIns="0" tIns="0" rIns="0" bIns="0" rtlCol="0" anchor="t"/>
          <a:lstStyle/>
          <a:p>
            <a:pPr marL="0" indent="0">
              <a:buNone/>
            </a:pPr>
            <a:r>
              <a:rPr lang="en-US" sz="1600" dirty="0">
                <a:solidFill>
                  <a:srgbClr val="1F2937"/>
                </a:solidFill>
                <a:latin typeface="Calibri" pitchFamily="34" charset="0"/>
                <a:ea typeface="Calibri" pitchFamily="34" charset="-122"/>
                <a:cs typeface="Calibri" pitchFamily="34" charset="-120"/>
              </a:rPr>
              <a:t>test accuracy của LSTM, TCN, PatchTST, MOMENT</a:t>
            </a:r>
            <a:endParaRPr lang="en-US" sz="1600" dirty="0"/>
          </a:p>
        </p:txBody>
      </p:sp>
      <p:sp>
        <p:nvSpPr>
          <p:cNvPr id="8" name="Text 6"/>
          <p:cNvSpPr txBox="1"/>
          <p:nvPr/>
        </p:nvSpPr>
        <p:spPr>
          <a:xfrm>
            <a:off x="594360" y="3840480"/>
            <a:ext cx="3108960" cy="685800"/>
          </a:xfrm>
          <a:prstGeom prst="rect">
            <a:avLst/>
          </a:prstGeom>
          <a:noFill/>
          <a:ln/>
        </p:spPr>
        <p:txBody>
          <a:bodyPr wrap="square" lIns="0" tIns="0" rIns="0" bIns="0" rtlCol="0" anchor="t"/>
          <a:lstStyle/>
          <a:p>
            <a:pPr marL="0" indent="0">
              <a:buNone/>
            </a:pPr>
            <a:r>
              <a:rPr lang="en-US" sz="1500" b="1" dirty="0">
                <a:solidFill>
                  <a:srgbClr val="0B2545"/>
                </a:solidFill>
                <a:latin typeface="Calibri" pitchFamily="34" charset="0"/>
                <a:ea typeface="Calibri" pitchFamily="34" charset="-122"/>
                <a:cs typeface="Calibri" pitchFamily="34" charset="-120"/>
              </a:rPr>
              <a:t>Utility ngang nhau không kéo theo quyền riêng tư ngang nhau.</a:t>
            </a:r>
            <a:endParaRPr lang="en-US" sz="1500" dirty="0"/>
          </a:p>
        </p:txBody>
      </p:sp>
      <p:graphicFrame>
        <p:nvGraphicFramePr>
          <p:cNvPr id="9" name="Chart 0"/>
          <p:cNvGraphicFramePr/>
          <p:nvPr/>
        </p:nvGraphicFramePr>
        <p:xfrm>
          <a:off x="4023360" y="1097280"/>
          <a:ext cx="4663440" cy="3520440"/>
        </p:xfrm>
        <a:graphic>
          <a:graphicData uri="http://schemas.openxmlformats.org/drawingml/2006/chart">
            <c:chart xmlns:c="http://schemas.openxmlformats.org/drawingml/2006/chart" xmlns:r="http://schemas.openxmlformats.org/officeDocument/2006/relationships" r:id="rId3"/>
          </a:graphicData>
        </a:graphic>
      </p:graphicFrame>
      <p:sp>
        <p:nvSpPr>
          <p:cNvPr id="25" name="Slide Number Placeholder 0"/>
          <p:cNvSpPr>
            <a:spLocks noGrp="1"/>
          </p:cNvSpPr>
          <p:nvPr>
            <p:ph type="sldNum" sz="quarter" idx="4294967295"/>
          </p:nvPr>
        </p:nvSpPr>
        <p:spPr>
          <a:xfrm>
            <a:off x="8229600" y="4773168"/>
            <a:ext cx="548640" cy="274320"/>
          </a:xfrm>
          <a:prstGeom prst="rect">
            <a:avLst/>
          </a:prstGeom>
          <a:extLst>
            <a:ext uri="{C572A759-6A51-4108-AA02-DFA0A04FC94B}">
              <ma14:wrappingTextBoxFlag xmlns:ma14="http://schemas.microsoft.com/office/mac/drawingml/2011/main" xmlns="" val="0"/>
            </a:ext>
          </a:extLst>
        </p:spPr>
        <p:txBody>
          <a:bodyPr/>
          <a:lstStyle>
            <a:lvl1pPr>
              <a:defRPr sz="1200">
                <a:solidFill>
                  <a:srgbClr val="6B7280"/>
                </a:solidFill>
                <a:latin typeface="Calibri"/>
                <a:ea typeface="Calibri"/>
                <a:cs typeface="Calibri"/>
              </a:defRPr>
            </a:lvl1pPr>
          </a:lstStyle>
          <a:p>
            <a:pPr algn="r"/>
            <a:fld id="{F7021451-1387-4CA6-816F-3879F97B5CBC}" type="slidenum">
              <a:rPr lang="en-US" b="0"/>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685800"/>
          </a:xfrm>
          <a:prstGeom prst="rect">
            <a:avLst/>
          </a:prstGeom>
          <a:noFill/>
          <a:ln/>
        </p:spPr>
        <p:txBody>
          <a:bodyPr wrap="square" lIns="0" tIns="0" rIns="0" bIns="0" rtlCol="0" anchor="ctr"/>
          <a:lstStyle/>
          <a:p>
            <a:pPr marL="0" indent="0">
              <a:buNone/>
            </a:pPr>
            <a:r>
              <a:rPr lang="en-US" sz="3000" b="1" dirty="0">
                <a:solidFill>
                  <a:srgbClr val="0B2545"/>
                </a:solidFill>
                <a:latin typeface="Cambria" pitchFamily="34" charset="0"/>
                <a:ea typeface="Cambria" pitchFamily="34" charset="-122"/>
                <a:cs typeface="Cambria" pitchFamily="34" charset="-120"/>
              </a:rPr>
              <a:t>RQ1: Kiến trúc hiện đại và baseline</a:t>
            </a:r>
            <a:endParaRPr lang="en-US" sz="3000" dirty="0"/>
          </a:p>
        </p:txBody>
      </p:sp>
      <p:sp>
        <p:nvSpPr>
          <p:cNvPr id="3" name="Shape 1"/>
          <p:cNvSpPr/>
          <p:nvPr/>
        </p:nvSpPr>
        <p:spPr>
          <a:xfrm>
            <a:off x="457200" y="1097280"/>
            <a:ext cx="4023360" cy="3520440"/>
          </a:xfrm>
          <a:prstGeom prst="roundRect">
            <a:avLst>
              <a:gd name="adj" fmla="val 2597"/>
            </a:avLst>
          </a:prstGeom>
          <a:solidFill>
            <a:srgbClr val="EEF3F9"/>
          </a:solidFill>
          <a:ln w="12700">
            <a:solidFill>
              <a:srgbClr val="EEF3F9"/>
            </a:solidFill>
            <a:prstDash val="solid"/>
          </a:ln>
        </p:spPr>
        <p:txBody>
          <a:bodyPr/>
          <a:lstStyle/>
          <a:p>
            <a:endParaRPr lang="en-VN"/>
          </a:p>
        </p:txBody>
      </p:sp>
      <p:sp>
        <p:nvSpPr>
          <p:cNvPr id="4" name="Text 2"/>
          <p:cNvSpPr txBox="1"/>
          <p:nvPr/>
        </p:nvSpPr>
        <p:spPr>
          <a:xfrm>
            <a:off x="640080" y="1188720"/>
            <a:ext cx="3657600" cy="320040"/>
          </a:xfrm>
          <a:prstGeom prst="rect">
            <a:avLst/>
          </a:prstGeom>
          <a:noFill/>
          <a:ln/>
        </p:spPr>
        <p:txBody>
          <a:bodyPr wrap="square" lIns="0" tIns="0" rIns="0" bIns="0" rtlCol="0" anchor="ctr"/>
          <a:lstStyle/>
          <a:p>
            <a:pPr marL="0" indent="0">
              <a:buNone/>
            </a:pPr>
            <a:r>
              <a:rPr lang="en-US" sz="1800" b="1" dirty="0">
                <a:solidFill>
                  <a:srgbClr val="0B2545"/>
                </a:solidFill>
                <a:latin typeface="Calibri" pitchFamily="34" charset="0"/>
                <a:ea typeface="Calibri" pitchFamily="34" charset="-122"/>
                <a:cs typeface="Calibri" pitchFamily="34" charset="-120"/>
              </a:rPr>
              <a:t>Trả lời</a:t>
            </a:r>
            <a:endParaRPr lang="en-US" sz="1800" dirty="0"/>
          </a:p>
        </p:txBody>
      </p:sp>
      <p:sp>
        <p:nvSpPr>
          <p:cNvPr id="5" name="Text 3"/>
          <p:cNvSpPr txBox="1"/>
          <p:nvPr/>
        </p:nvSpPr>
        <p:spPr>
          <a:xfrm>
            <a:off x="640080" y="1600200"/>
            <a:ext cx="3657600" cy="457200"/>
          </a:xfrm>
          <a:prstGeom prst="rect">
            <a:avLst/>
          </a:prstGeom>
          <a:noFill/>
          <a:ln/>
        </p:spPr>
        <p:txBody>
          <a:bodyPr wrap="square" lIns="0" tIns="0" rIns="0" bIns="0" rtlCol="0" anchor="ctr"/>
          <a:lstStyle/>
          <a:p>
            <a:pPr marL="0" indent="0">
              <a:buNone/>
            </a:pPr>
            <a:r>
              <a:rPr lang="en-US" sz="2200" b="1" dirty="0">
                <a:solidFill>
                  <a:srgbClr val="E4572E"/>
                </a:solidFill>
                <a:latin typeface="Cambria" pitchFamily="34" charset="0"/>
                <a:ea typeface="Cambria" pitchFamily="34" charset="-122"/>
                <a:cs typeface="Cambria" pitchFamily="34" charset="-120"/>
              </a:rPr>
              <a:t>Không có ưu thế hệ thống</a:t>
            </a:r>
            <a:endParaRPr lang="en-US" sz="2200" dirty="0"/>
          </a:p>
        </p:txBody>
      </p:sp>
      <p:sp>
        <p:nvSpPr>
          <p:cNvPr id="6" name="Text 4"/>
          <p:cNvSpPr txBox="1"/>
          <p:nvPr/>
        </p:nvSpPr>
        <p:spPr>
          <a:xfrm>
            <a:off x="640080" y="2194560"/>
            <a:ext cx="3657600" cy="2286000"/>
          </a:xfrm>
          <a:prstGeom prst="rect">
            <a:avLst/>
          </a:prstGeom>
          <a:noFill/>
          <a:ln/>
        </p:spPr>
        <p:txBody>
          <a:bodyPr wrap="square" lIns="0" tIns="0" rIns="0" bIns="0" rtlCol="0" anchor="t"/>
          <a:lstStyle/>
          <a:p>
            <a:pPr marL="342900" indent="-342900">
              <a:spcAft>
                <a:spcPts val="600"/>
              </a:spcAft>
              <a:buSzPct val="100000"/>
              <a:buChar char="•"/>
            </a:pPr>
            <a:r>
              <a:rPr lang="en-US" sz="1600" dirty="0">
                <a:solidFill>
                  <a:srgbClr val="1F2937"/>
                </a:solidFill>
                <a:latin typeface="Calibri" pitchFamily="34" charset="0"/>
                <a:ea typeface="Calibri" pitchFamily="34" charset="-122"/>
                <a:cs typeface="Calibri" pitchFamily="34" charset="-120"/>
              </a:rPr>
              <a:t>Phân loại: PatchTST rò rỉ hơn LSTM nhưng ít hơn TCN</a:t>
            </a:r>
            <a:endParaRPr lang="en-US" sz="1600" dirty="0"/>
          </a:p>
          <a:p>
            <a:pPr marL="342900" indent="-342900">
              <a:spcAft>
                <a:spcPts val="600"/>
              </a:spcAft>
              <a:buSzPct val="100000"/>
              <a:buChar char="•"/>
            </a:pPr>
            <a:r>
              <a:rPr lang="en-US" sz="1600" dirty="0">
                <a:solidFill>
                  <a:srgbClr val="1F2937"/>
                </a:solidFill>
                <a:latin typeface="Calibri" pitchFamily="34" charset="0"/>
                <a:ea typeface="Calibri" pitchFamily="34" charset="-122"/>
                <a:cs typeface="Calibri" pitchFamily="34" charset="-120"/>
              </a:rPr>
              <a:t>Dự báo: LSTM, TCN, iTransformer cùng 13–14%</a:t>
            </a:r>
            <a:endParaRPr lang="en-US" sz="1600" dirty="0"/>
          </a:p>
          <a:p>
            <a:pPr marL="342900" indent="-342900">
              <a:spcAft>
                <a:spcPts val="600"/>
              </a:spcAft>
              <a:buSzPct val="100000"/>
              <a:buChar char="•"/>
            </a:pPr>
            <a:r>
              <a:rPr lang="en-US" sz="1600" dirty="0">
                <a:solidFill>
                  <a:srgbClr val="1F2937"/>
                </a:solidFill>
                <a:latin typeface="Calibri" pitchFamily="34" charset="0"/>
                <a:ea typeface="Calibri" pitchFamily="34" charset="-122"/>
                <a:cs typeface="Calibri" pitchFamily="34" charset="-120"/>
              </a:rPr>
              <a:t>iTransformer ngang TCN</a:t>
            </a:r>
            <a:endParaRPr lang="en-US" sz="1600" dirty="0"/>
          </a:p>
        </p:txBody>
      </p:sp>
      <p:sp>
        <p:nvSpPr>
          <p:cNvPr id="7" name="Shape 5"/>
          <p:cNvSpPr/>
          <p:nvPr/>
        </p:nvSpPr>
        <p:spPr>
          <a:xfrm>
            <a:off x="4663440" y="1097280"/>
            <a:ext cx="4023360" cy="3520440"/>
          </a:xfrm>
          <a:prstGeom prst="roundRect">
            <a:avLst>
              <a:gd name="adj" fmla="val 2597"/>
            </a:avLst>
          </a:prstGeom>
          <a:solidFill>
            <a:srgbClr val="13315C"/>
          </a:solidFill>
          <a:ln w="12700">
            <a:solidFill>
              <a:srgbClr val="13315C"/>
            </a:solidFill>
            <a:prstDash val="solid"/>
          </a:ln>
        </p:spPr>
        <p:txBody>
          <a:bodyPr/>
          <a:lstStyle/>
          <a:p>
            <a:endParaRPr lang="en-VN"/>
          </a:p>
        </p:txBody>
      </p:sp>
      <p:sp>
        <p:nvSpPr>
          <p:cNvPr id="8" name="Text 6"/>
          <p:cNvSpPr txBox="1"/>
          <p:nvPr/>
        </p:nvSpPr>
        <p:spPr>
          <a:xfrm>
            <a:off x="4846320" y="1188720"/>
            <a:ext cx="3657600" cy="320040"/>
          </a:xfrm>
          <a:prstGeom prst="rect">
            <a:avLst/>
          </a:prstGeom>
          <a:noFill/>
          <a:ln/>
        </p:spPr>
        <p:txBody>
          <a:bodyPr wrap="square" lIns="0" tIns="0" rIns="0" bIns="0" rtlCol="0" anchor="ctr"/>
          <a:lstStyle/>
          <a:p>
            <a:pPr marL="0" indent="0">
              <a:buNone/>
            </a:pPr>
            <a:r>
              <a:rPr lang="en-US" sz="1800" b="1" dirty="0">
                <a:solidFill>
                  <a:srgbClr val="FFB199"/>
                </a:solidFill>
                <a:latin typeface="Calibri" pitchFamily="34" charset="0"/>
                <a:ea typeface="Calibri" pitchFamily="34" charset="-122"/>
                <a:cs typeface="Calibri" pitchFamily="34" charset="-120"/>
              </a:rPr>
              <a:t>Generalization gap</a:t>
            </a:r>
            <a:endParaRPr lang="en-US" sz="1800" dirty="0"/>
          </a:p>
        </p:txBody>
      </p:sp>
      <p:sp>
        <p:nvSpPr>
          <p:cNvPr id="9" name="Text 7"/>
          <p:cNvSpPr txBox="1"/>
          <p:nvPr/>
        </p:nvSpPr>
        <p:spPr>
          <a:xfrm>
            <a:off x="4846320" y="1600200"/>
            <a:ext cx="3657600" cy="457200"/>
          </a:xfrm>
          <a:prstGeom prst="rect">
            <a:avLst/>
          </a:prstGeom>
          <a:noFill/>
          <a:ln/>
        </p:spPr>
        <p:txBody>
          <a:bodyPr wrap="square" lIns="0" tIns="0" rIns="0" bIns="0" rtlCol="0" anchor="ctr"/>
          <a:lstStyle/>
          <a:p>
            <a:pPr marL="0" indent="0">
              <a:buNone/>
            </a:pPr>
            <a:r>
              <a:rPr lang="en-US" sz="2200" b="1" dirty="0">
                <a:solidFill>
                  <a:srgbClr val="FFFFFF"/>
                </a:solidFill>
                <a:latin typeface="Cambria" pitchFamily="34" charset="0"/>
                <a:ea typeface="Cambria" pitchFamily="34" charset="-122"/>
                <a:cs typeface="Cambria" pitchFamily="34" charset="-120"/>
              </a:rPr>
              <a:t>Giải thích một phần</a:t>
            </a:r>
            <a:endParaRPr lang="en-US" sz="2200" dirty="0"/>
          </a:p>
        </p:txBody>
      </p:sp>
      <p:sp>
        <p:nvSpPr>
          <p:cNvPr id="10" name="Text 8"/>
          <p:cNvSpPr txBox="1"/>
          <p:nvPr/>
        </p:nvSpPr>
        <p:spPr>
          <a:xfrm>
            <a:off x="4846320" y="2194560"/>
            <a:ext cx="3657600" cy="2286000"/>
          </a:xfrm>
          <a:prstGeom prst="rect">
            <a:avLst/>
          </a:prstGeom>
          <a:noFill/>
          <a:ln/>
        </p:spPr>
        <p:txBody>
          <a:bodyPr wrap="square" lIns="0" tIns="0" rIns="0" bIns="0" rtlCol="0" anchor="t"/>
          <a:lstStyle/>
          <a:p>
            <a:pPr marL="342900" indent="-342900">
              <a:spcAft>
                <a:spcPts val="600"/>
              </a:spcAft>
              <a:buSzPct val="100000"/>
              <a:buChar char="•"/>
            </a:pPr>
            <a:r>
              <a:rPr lang="en-US" sz="1600" dirty="0">
                <a:solidFill>
                  <a:srgbClr val="FFFFFF"/>
                </a:solidFill>
                <a:latin typeface="Calibri" pitchFamily="34" charset="0"/>
                <a:ea typeface="Calibri" pitchFamily="34" charset="-122"/>
                <a:cs typeface="Calibri" pitchFamily="34" charset="-120"/>
              </a:rPr>
              <a:t>Phân loại: thứ tự gap khớp thứ tự rò rỉ [9]</a:t>
            </a:r>
            <a:endParaRPr lang="en-US" sz="1600" dirty="0"/>
          </a:p>
          <a:p>
            <a:pPr marL="342900" indent="-342900">
              <a:spcAft>
                <a:spcPts val="600"/>
              </a:spcAft>
              <a:buSzPct val="100000"/>
              <a:buChar char="•"/>
            </a:pPr>
            <a:r>
              <a:rPr lang="en-US" sz="1600" dirty="0">
                <a:solidFill>
                  <a:srgbClr val="FFFFFF"/>
                </a:solidFill>
                <a:latin typeface="Calibri" pitchFamily="34" charset="0"/>
                <a:ea typeface="Calibri" pitchFamily="34" charset="-122"/>
                <a:cs typeface="Calibri" pitchFamily="34" charset="-120"/>
              </a:rPr>
              <a:t>iTransformer gap lớn nhất (0,48) nhưng LiRA/RMIA chỉ ≈ 1%</a:t>
            </a:r>
            <a:endParaRPr lang="en-US" sz="1600" dirty="0"/>
          </a:p>
          <a:p>
            <a:pPr marL="342900" indent="-342900">
              <a:spcAft>
                <a:spcPts val="600"/>
              </a:spcAft>
              <a:buSzPct val="100000"/>
              <a:buChar char="•"/>
            </a:pPr>
            <a:r>
              <a:rPr lang="en-US" sz="1600" dirty="0">
                <a:solidFill>
                  <a:srgbClr val="FFFFFF"/>
                </a:solidFill>
                <a:latin typeface="Calibri" pitchFamily="34" charset="0"/>
                <a:ea typeface="Calibri" pitchFamily="34" charset="-122"/>
                <a:cs typeface="Calibri" pitchFamily="34" charset="-120"/>
              </a:rPr>
              <a:t>TCN dự báo gap nhỏ nhất (0,08) vẫn rò rỉ 13,8%</a:t>
            </a:r>
            <a:endParaRPr lang="en-US" sz="1600" dirty="0"/>
          </a:p>
        </p:txBody>
      </p:sp>
      <p:sp>
        <p:nvSpPr>
          <p:cNvPr id="25" name="Slide Number Placeholder 0"/>
          <p:cNvSpPr>
            <a:spLocks noGrp="1"/>
          </p:cNvSpPr>
          <p:nvPr>
            <p:ph type="sldNum" sz="quarter" idx="4294967295"/>
          </p:nvPr>
        </p:nvSpPr>
        <p:spPr>
          <a:xfrm>
            <a:off x="8229600" y="4773168"/>
            <a:ext cx="548640" cy="274320"/>
          </a:xfrm>
          <a:prstGeom prst="rect">
            <a:avLst/>
          </a:prstGeom>
          <a:extLst>
            <a:ext uri="{C572A759-6A51-4108-AA02-DFA0A04FC94B}">
              <ma14:wrappingTextBoxFlag xmlns:ma14="http://schemas.microsoft.com/office/mac/drawingml/2011/main" xmlns="" val="0"/>
            </a:ext>
          </a:extLst>
        </p:spPr>
        <p:txBody>
          <a:bodyPr/>
          <a:lstStyle>
            <a:lvl1pPr>
              <a:defRPr sz="1200">
                <a:solidFill>
                  <a:srgbClr val="6B7280"/>
                </a:solidFill>
                <a:latin typeface="Calibri"/>
                <a:ea typeface="Calibri"/>
                <a:cs typeface="Calibri"/>
              </a:defRPr>
            </a:lvl1pPr>
          </a:lstStyle>
          <a:p>
            <a:pPr algn="r"/>
            <a:fld id="{F7021451-1387-4CA6-816F-3879F97B5CBC}" type="slidenum">
              <a:rPr lang="en-US" b="0"/>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685800"/>
          </a:xfrm>
          <a:prstGeom prst="rect">
            <a:avLst/>
          </a:prstGeom>
          <a:noFill/>
          <a:ln/>
        </p:spPr>
        <p:txBody>
          <a:bodyPr wrap="square" lIns="0" tIns="0" rIns="0" bIns="0" rtlCol="0" anchor="ctr"/>
          <a:lstStyle/>
          <a:p>
            <a:pPr marL="0" indent="0">
              <a:buNone/>
            </a:pPr>
            <a:r>
              <a:rPr lang="en-US" sz="3000" b="1" dirty="0">
                <a:solidFill>
                  <a:srgbClr val="0B2545"/>
                </a:solidFill>
                <a:latin typeface="Cambria" pitchFamily="34" charset="0"/>
                <a:ea typeface="Cambria" pitchFamily="34" charset="-122"/>
                <a:cs typeface="Cambria" pitchFamily="34" charset="-120"/>
              </a:rPr>
              <a:t>RQ2: Dự báo rò rỉ nhiều hơn phân loại</a:t>
            </a:r>
            <a:endParaRPr lang="en-US" sz="3000" dirty="0"/>
          </a:p>
        </p:txBody>
      </p:sp>
      <p:pic>
        <p:nvPicPr>
          <p:cNvPr id="3" name="Image 0" descr="Biểu đồ so sánh TPR@0,1% FPR giữa phân loại và dự báo cho 5 mô hình"/>
          <p:cNvPicPr>
            <a:picLocks noChangeAspect="1"/>
          </p:cNvPicPr>
          <p:nvPr/>
        </p:nvPicPr>
        <p:blipFill>
          <a:blip r:embed="rId3"/>
          <a:stretch>
            <a:fillRect/>
          </a:stretch>
        </p:blipFill>
        <p:spPr>
          <a:xfrm>
            <a:off x="914400" y="1005840"/>
            <a:ext cx="7315200" cy="3294974"/>
          </a:xfrm>
          <a:prstGeom prst="rect">
            <a:avLst/>
          </a:prstGeom>
        </p:spPr>
      </p:pic>
      <p:sp>
        <p:nvSpPr>
          <p:cNvPr id="4" name="Text 1"/>
          <p:cNvSpPr txBox="1"/>
          <p:nvPr/>
        </p:nvSpPr>
        <p:spPr>
          <a:xfrm>
            <a:off x="457200" y="4389120"/>
            <a:ext cx="7589520" cy="502920"/>
          </a:xfrm>
          <a:prstGeom prst="rect">
            <a:avLst/>
          </a:prstGeom>
          <a:noFill/>
          <a:ln/>
        </p:spPr>
        <p:txBody>
          <a:bodyPr wrap="square" lIns="0" tIns="0" rIns="0" bIns="0" rtlCol="0" anchor="t"/>
          <a:lstStyle/>
          <a:p>
            <a:pPr marL="0" indent="0">
              <a:buNone/>
            </a:pPr>
            <a:r>
              <a:rPr lang="en-US" sz="1600" b="1" dirty="0">
                <a:solidFill>
                  <a:srgbClr val="E4572E"/>
                </a:solidFill>
                <a:latin typeface="Calibri" pitchFamily="34" charset="0"/>
                <a:ea typeface="Calibri" pitchFamily="34" charset="-122"/>
                <a:cs typeface="Calibri" pitchFamily="34" charset="-120"/>
              </a:rPr>
              <a:t>Trả lời: </a:t>
            </a:r>
            <a:r>
              <a:rPr lang="en-US" sz="1600" dirty="0">
                <a:solidFill>
                  <a:srgbClr val="1F2937"/>
                </a:solidFill>
                <a:latin typeface="Calibri" pitchFamily="34" charset="0"/>
                <a:ea typeface="Calibri" pitchFamily="34" charset="-122"/>
                <a:cs typeface="Calibri" pitchFamily="34" charset="-120"/>
              </a:rPr>
              <a:t>dự báo cao hơn ở cả 5 mô hình (1,7× đến 21×), chắc chắn với LSTM, PatchTST, MOMENT. Tấn công tốt nhất gồm biến thể online (cận trên).</a:t>
            </a:r>
            <a:endParaRPr lang="en-US" sz="1600" dirty="0"/>
          </a:p>
        </p:txBody>
      </p:sp>
      <p:sp>
        <p:nvSpPr>
          <p:cNvPr id="25" name="Slide Number Placeholder 0"/>
          <p:cNvSpPr>
            <a:spLocks noGrp="1"/>
          </p:cNvSpPr>
          <p:nvPr>
            <p:ph type="sldNum" sz="quarter" idx="4294967295"/>
          </p:nvPr>
        </p:nvSpPr>
        <p:spPr>
          <a:xfrm>
            <a:off x="8229600" y="4773168"/>
            <a:ext cx="548640" cy="274320"/>
          </a:xfrm>
          <a:prstGeom prst="rect">
            <a:avLst/>
          </a:prstGeom>
          <a:extLst>
            <a:ext uri="{C572A759-6A51-4108-AA02-DFA0A04FC94B}">
              <ma14:wrappingTextBoxFlag xmlns:ma14="http://schemas.microsoft.com/office/mac/drawingml/2011/main" xmlns="" val="0"/>
            </a:ext>
          </a:extLst>
        </p:spPr>
        <p:txBody>
          <a:bodyPr/>
          <a:lstStyle>
            <a:lvl1pPr>
              <a:defRPr sz="1200">
                <a:solidFill>
                  <a:srgbClr val="6B7280"/>
                </a:solidFill>
                <a:latin typeface="Calibri"/>
                <a:ea typeface="Calibri"/>
                <a:cs typeface="Calibri"/>
              </a:defRPr>
            </a:lvl1pPr>
          </a:lstStyle>
          <a:p>
            <a:pPr algn="r"/>
            <a:fld id="{F7021451-1387-4CA6-816F-3879F97B5CBC}" type="slidenum">
              <a:rPr lang="en-US" b="0"/>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txBox="1"/>
          <p:nvPr/>
        </p:nvSpPr>
        <p:spPr>
          <a:xfrm>
            <a:off x="731520" y="1188720"/>
            <a:ext cx="2743200" cy="1188720"/>
          </a:xfrm>
          <a:prstGeom prst="rect">
            <a:avLst/>
          </a:prstGeom>
          <a:noFill/>
          <a:ln/>
        </p:spPr>
        <p:txBody>
          <a:bodyPr wrap="square" lIns="0" tIns="0" rIns="0" bIns="0" rtlCol="0" anchor="ctr"/>
          <a:lstStyle/>
          <a:p>
            <a:pPr marL="0" indent="0">
              <a:buNone/>
            </a:pPr>
            <a:r>
              <a:rPr lang="en-US" sz="8000" b="1" dirty="0">
                <a:solidFill>
                  <a:srgbClr val="E4572E"/>
                </a:solidFill>
                <a:latin typeface="Cambria" pitchFamily="34" charset="0"/>
                <a:ea typeface="Cambria" pitchFamily="34" charset="-122"/>
                <a:cs typeface="Cambria" pitchFamily="34" charset="-120"/>
              </a:rPr>
              <a:t>03</a:t>
            </a:r>
            <a:endParaRPr lang="en-US" sz="8000" dirty="0"/>
          </a:p>
        </p:txBody>
      </p:sp>
      <p:sp>
        <p:nvSpPr>
          <p:cNvPr id="3" name="Text 1"/>
          <p:cNvSpPr txBox="1"/>
          <p:nvPr/>
        </p:nvSpPr>
        <p:spPr>
          <a:xfrm>
            <a:off x="731520" y="2468880"/>
            <a:ext cx="7680960" cy="731520"/>
          </a:xfrm>
          <a:prstGeom prst="rect">
            <a:avLst/>
          </a:prstGeom>
          <a:noFill/>
          <a:ln/>
        </p:spPr>
        <p:txBody>
          <a:bodyPr wrap="square" lIns="0" tIns="0" rIns="0" bIns="0" rtlCol="0" anchor="ctr"/>
          <a:lstStyle/>
          <a:p>
            <a:pPr marL="0" indent="0">
              <a:buNone/>
            </a:pPr>
            <a:r>
              <a:rPr lang="en-US" sz="4000" b="1" dirty="0">
                <a:solidFill>
                  <a:srgbClr val="0B2545"/>
                </a:solidFill>
                <a:latin typeface="Cambria" pitchFamily="34" charset="0"/>
                <a:ea typeface="Cambria" pitchFamily="34" charset="-122"/>
                <a:cs typeface="Cambria" pitchFamily="34" charset="-120"/>
              </a:rPr>
              <a:t>Bài học và kết luận</a:t>
            </a:r>
            <a:endParaRPr lang="en-US" sz="4000" dirty="0"/>
          </a:p>
        </p:txBody>
      </p:sp>
      <p:sp>
        <p:nvSpPr>
          <p:cNvPr id="4" name="Text 2"/>
          <p:cNvSpPr txBox="1"/>
          <p:nvPr/>
        </p:nvSpPr>
        <p:spPr>
          <a:xfrm>
            <a:off x="731520" y="3291840"/>
            <a:ext cx="7680960" cy="731520"/>
          </a:xfrm>
          <a:prstGeom prst="rect">
            <a:avLst/>
          </a:prstGeom>
          <a:noFill/>
          <a:ln/>
        </p:spPr>
        <p:txBody>
          <a:bodyPr wrap="square" lIns="0" tIns="0" rIns="0" bIns="0" rtlCol="0" anchor="ctr"/>
          <a:lstStyle/>
          <a:p>
            <a:pPr marL="0" indent="0">
              <a:buNone/>
            </a:pPr>
            <a:r>
              <a:rPr lang="en-US" sz="2000" dirty="0">
                <a:solidFill>
                  <a:srgbClr val="4B5B73"/>
                </a:solidFill>
                <a:latin typeface="Calibri" pitchFamily="34" charset="0"/>
                <a:ea typeface="Calibri" pitchFamily="34" charset="-122"/>
                <a:cs typeface="Calibri" pitchFamily="34" charset="-120"/>
              </a:rPr>
              <a:t>Hàm ý cho kiểm toán quyền riêng tư</a:t>
            </a:r>
            <a:endParaRPr lang="en-US" sz="2000" dirty="0"/>
          </a:p>
        </p:txBody>
      </p:sp>
      <p:sp>
        <p:nvSpPr>
          <p:cNvPr id="25" name="Slide Number Placeholder 0"/>
          <p:cNvSpPr>
            <a:spLocks noGrp="1"/>
          </p:cNvSpPr>
          <p:nvPr>
            <p:ph type="sldNum" sz="quarter" idx="4294967295"/>
          </p:nvPr>
        </p:nvSpPr>
        <p:spPr>
          <a:xfrm>
            <a:off x="8229600" y="4773168"/>
            <a:ext cx="548640" cy="274320"/>
          </a:xfrm>
          <a:prstGeom prst="rect">
            <a:avLst/>
          </a:prstGeom>
          <a:extLst>
            <a:ext uri="{C572A759-6A51-4108-AA02-DFA0A04FC94B}">
              <ma14:wrappingTextBoxFlag xmlns:ma14="http://schemas.microsoft.com/office/mac/drawingml/2011/main" xmlns="" val="0"/>
            </a:ext>
          </a:extLst>
        </p:spPr>
        <p:txBody>
          <a:bodyPr/>
          <a:lstStyle>
            <a:lvl1pPr>
              <a:defRPr sz="1200">
                <a:solidFill>
                  <a:srgbClr val="6B7280"/>
                </a:solidFill>
                <a:latin typeface="Calibri"/>
                <a:ea typeface="Calibri"/>
                <a:cs typeface="Calibri"/>
              </a:defRPr>
            </a:lvl1pPr>
          </a:lstStyle>
          <a:p>
            <a:pPr algn="r"/>
            <a:fld id="{F7021451-1387-4CA6-816F-3879F97B5CBC}" type="slidenum">
              <a:rPr lang="en-US" b="0"/>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685800"/>
          </a:xfrm>
          <a:prstGeom prst="rect">
            <a:avLst/>
          </a:prstGeom>
          <a:noFill/>
          <a:ln/>
        </p:spPr>
        <p:txBody>
          <a:bodyPr wrap="square" lIns="0" tIns="0" rIns="0" bIns="0" rtlCol="0" anchor="ctr"/>
          <a:lstStyle/>
          <a:p>
            <a:pPr marL="0" indent="0">
              <a:buNone/>
            </a:pPr>
            <a:r>
              <a:rPr lang="en-US" sz="3000" b="1" dirty="0">
                <a:solidFill>
                  <a:srgbClr val="0B2545"/>
                </a:solidFill>
                <a:latin typeface="Cambria" pitchFamily="34" charset="0"/>
                <a:ea typeface="Cambria" pitchFamily="34" charset="-122"/>
                <a:cs typeface="Cambria" pitchFamily="34" charset="-120"/>
              </a:rPr>
              <a:t>Bài học cho kiểm toán quyền riêng tư</a:t>
            </a:r>
            <a:endParaRPr lang="en-US" sz="3000" dirty="0"/>
          </a:p>
        </p:txBody>
      </p:sp>
      <p:sp>
        <p:nvSpPr>
          <p:cNvPr id="3" name="Shape 1"/>
          <p:cNvSpPr/>
          <p:nvPr/>
        </p:nvSpPr>
        <p:spPr>
          <a:xfrm>
            <a:off x="457200" y="1097280"/>
            <a:ext cx="8229600" cy="795528"/>
          </a:xfrm>
          <a:prstGeom prst="roundRect">
            <a:avLst>
              <a:gd name="adj" fmla="val 11494"/>
            </a:avLst>
          </a:prstGeom>
          <a:solidFill>
            <a:srgbClr val="EEF3F9"/>
          </a:solidFill>
          <a:ln w="12700">
            <a:solidFill>
              <a:srgbClr val="EEF3F9"/>
            </a:solidFill>
            <a:prstDash val="solid"/>
          </a:ln>
        </p:spPr>
        <p:txBody>
          <a:bodyPr/>
          <a:lstStyle/>
          <a:p>
            <a:endParaRPr lang="en-VN"/>
          </a:p>
        </p:txBody>
      </p:sp>
      <p:sp>
        <p:nvSpPr>
          <p:cNvPr id="4" name="Text 2"/>
          <p:cNvSpPr/>
          <p:nvPr/>
        </p:nvSpPr>
        <p:spPr>
          <a:xfrm>
            <a:off x="640080" y="1261872"/>
            <a:ext cx="457200" cy="457200"/>
          </a:xfrm>
          <a:prstGeom prst="ellipse">
            <a:avLst/>
          </a:prstGeom>
          <a:solidFill>
            <a:srgbClr val="E4572E"/>
          </a:solid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1</a:t>
            </a:r>
            <a:endParaRPr lang="en-US" sz="1600" dirty="0"/>
          </a:p>
        </p:txBody>
      </p:sp>
      <p:sp>
        <p:nvSpPr>
          <p:cNvPr id="5" name="Text 3"/>
          <p:cNvSpPr txBox="1"/>
          <p:nvPr/>
        </p:nvSpPr>
        <p:spPr>
          <a:xfrm>
            <a:off x="1325880" y="1152144"/>
            <a:ext cx="7223760" cy="685800"/>
          </a:xfrm>
          <a:prstGeom prst="rect">
            <a:avLst/>
          </a:prstGeom>
          <a:noFill/>
          <a:ln/>
        </p:spPr>
        <p:txBody>
          <a:bodyPr wrap="square" lIns="0" tIns="0" rIns="0" bIns="0" rtlCol="0" anchor="ctr"/>
          <a:lstStyle/>
          <a:p>
            <a:pPr marL="0" indent="0">
              <a:buNone/>
            </a:pPr>
            <a:r>
              <a:rPr lang="en-US" sz="1800" b="1" dirty="0">
                <a:solidFill>
                  <a:srgbClr val="0B2545"/>
                </a:solidFill>
                <a:latin typeface="Calibri" pitchFamily="34" charset="0"/>
                <a:ea typeface="Calibri" pitchFamily="34" charset="-122"/>
                <a:cs typeface="Calibri" pitchFamily="34" charset="-120"/>
              </a:rPr>
              <a:t>Đừng chỉ dùng Loss/Conf</a:t>
            </a:r>
            <a:endParaRPr lang="en-US" sz="1800" dirty="0"/>
          </a:p>
          <a:p>
            <a:pPr marL="0" indent="0">
              <a:buNone/>
            </a:pPr>
            <a:r>
              <a:rPr lang="en-US" sz="1500" dirty="0">
                <a:solidFill>
                  <a:srgbClr val="1F2937"/>
                </a:solidFill>
                <a:latin typeface="Calibri" pitchFamily="34" charset="0"/>
                <a:ea typeface="Calibri" pitchFamily="34" charset="-122"/>
                <a:cs typeface="Calibri" pitchFamily="34" charset="-120"/>
              </a:rPr>
              <a:t>MOMENT dự báo: Loss chỉ 2,2%, tấn công tốt nhất 97,7%</a:t>
            </a:r>
            <a:endParaRPr lang="en-US" sz="1800" dirty="0"/>
          </a:p>
        </p:txBody>
      </p:sp>
      <p:sp>
        <p:nvSpPr>
          <p:cNvPr id="6" name="Shape 4"/>
          <p:cNvSpPr/>
          <p:nvPr/>
        </p:nvSpPr>
        <p:spPr>
          <a:xfrm>
            <a:off x="457200" y="1984248"/>
            <a:ext cx="8229600" cy="795528"/>
          </a:xfrm>
          <a:prstGeom prst="roundRect">
            <a:avLst>
              <a:gd name="adj" fmla="val 11494"/>
            </a:avLst>
          </a:prstGeom>
          <a:solidFill>
            <a:srgbClr val="EEF3F9"/>
          </a:solidFill>
          <a:ln w="12700">
            <a:solidFill>
              <a:srgbClr val="EEF3F9"/>
            </a:solidFill>
            <a:prstDash val="solid"/>
          </a:ln>
        </p:spPr>
        <p:txBody>
          <a:bodyPr/>
          <a:lstStyle/>
          <a:p>
            <a:endParaRPr lang="en-VN"/>
          </a:p>
        </p:txBody>
      </p:sp>
      <p:sp>
        <p:nvSpPr>
          <p:cNvPr id="7" name="Text 5"/>
          <p:cNvSpPr/>
          <p:nvPr/>
        </p:nvSpPr>
        <p:spPr>
          <a:xfrm>
            <a:off x="640080" y="2148840"/>
            <a:ext cx="457200" cy="457200"/>
          </a:xfrm>
          <a:prstGeom prst="ellipse">
            <a:avLst/>
          </a:prstGeom>
          <a:solidFill>
            <a:srgbClr val="E4572E"/>
          </a:solid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2</a:t>
            </a:r>
            <a:endParaRPr lang="en-US" sz="1600" dirty="0"/>
          </a:p>
        </p:txBody>
      </p:sp>
      <p:sp>
        <p:nvSpPr>
          <p:cNvPr id="8" name="Text 6"/>
          <p:cNvSpPr txBox="1"/>
          <p:nvPr/>
        </p:nvSpPr>
        <p:spPr>
          <a:xfrm>
            <a:off x="1325880" y="2039112"/>
            <a:ext cx="7223760" cy="685800"/>
          </a:xfrm>
          <a:prstGeom prst="rect">
            <a:avLst/>
          </a:prstGeom>
          <a:noFill/>
          <a:ln/>
        </p:spPr>
        <p:txBody>
          <a:bodyPr wrap="square" lIns="0" tIns="0" rIns="0" bIns="0" rtlCol="0" anchor="ctr"/>
          <a:lstStyle/>
          <a:p>
            <a:pPr marL="0" indent="0">
              <a:buNone/>
            </a:pPr>
            <a:r>
              <a:rPr lang="en-US" sz="1800" b="1" dirty="0">
                <a:solidFill>
                  <a:srgbClr val="0B2545"/>
                </a:solidFill>
                <a:latin typeface="Calibri" pitchFamily="34" charset="0"/>
                <a:ea typeface="Calibri" pitchFamily="34" charset="-122"/>
                <a:cs typeface="Calibri" pitchFamily="34" charset="-120"/>
              </a:rPr>
              <a:t>Chạy nhiều họ tấn công</a:t>
            </a:r>
            <a:endParaRPr lang="en-US" sz="1800" dirty="0"/>
          </a:p>
          <a:p>
            <a:pPr marL="0" indent="0">
              <a:buNone/>
            </a:pPr>
            <a:r>
              <a:rPr lang="en-US" sz="1500" dirty="0">
                <a:solidFill>
                  <a:srgbClr val="1F2937"/>
                </a:solidFill>
                <a:latin typeface="Calibri" pitchFamily="34" charset="0"/>
                <a:ea typeface="Calibri" pitchFamily="34" charset="-122"/>
                <a:cs typeface="Calibri" pitchFamily="34" charset="-120"/>
              </a:rPr>
              <a:t>LiRA/RMIA thắng 8/10 cấu hình, Temporal thắng ở iTransformer</a:t>
            </a:r>
            <a:endParaRPr lang="en-US" sz="1800" dirty="0"/>
          </a:p>
        </p:txBody>
      </p:sp>
      <p:sp>
        <p:nvSpPr>
          <p:cNvPr id="9" name="Shape 7"/>
          <p:cNvSpPr/>
          <p:nvPr/>
        </p:nvSpPr>
        <p:spPr>
          <a:xfrm>
            <a:off x="457200" y="2871216"/>
            <a:ext cx="8229600" cy="795528"/>
          </a:xfrm>
          <a:prstGeom prst="roundRect">
            <a:avLst>
              <a:gd name="adj" fmla="val 11494"/>
            </a:avLst>
          </a:prstGeom>
          <a:solidFill>
            <a:srgbClr val="EEF3F9"/>
          </a:solidFill>
          <a:ln w="12700">
            <a:solidFill>
              <a:srgbClr val="EEF3F9"/>
            </a:solidFill>
            <a:prstDash val="solid"/>
          </a:ln>
        </p:spPr>
        <p:txBody>
          <a:bodyPr/>
          <a:lstStyle/>
          <a:p>
            <a:endParaRPr lang="en-VN"/>
          </a:p>
        </p:txBody>
      </p:sp>
      <p:sp>
        <p:nvSpPr>
          <p:cNvPr id="10" name="Text 8"/>
          <p:cNvSpPr/>
          <p:nvPr/>
        </p:nvSpPr>
        <p:spPr>
          <a:xfrm>
            <a:off x="640080" y="3035808"/>
            <a:ext cx="457200" cy="457200"/>
          </a:xfrm>
          <a:prstGeom prst="ellipse">
            <a:avLst/>
          </a:prstGeom>
          <a:solidFill>
            <a:srgbClr val="E4572E"/>
          </a:solid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3</a:t>
            </a:r>
            <a:endParaRPr lang="en-US" sz="1600" dirty="0"/>
          </a:p>
        </p:txBody>
      </p:sp>
      <p:sp>
        <p:nvSpPr>
          <p:cNvPr id="11" name="Text 9"/>
          <p:cNvSpPr txBox="1"/>
          <p:nvPr/>
        </p:nvSpPr>
        <p:spPr>
          <a:xfrm>
            <a:off x="1325880" y="2926080"/>
            <a:ext cx="7223760" cy="685800"/>
          </a:xfrm>
          <a:prstGeom prst="rect">
            <a:avLst/>
          </a:prstGeom>
          <a:noFill/>
          <a:ln/>
        </p:spPr>
        <p:txBody>
          <a:bodyPr wrap="square" lIns="0" tIns="0" rIns="0" bIns="0" rtlCol="0" anchor="ctr"/>
          <a:lstStyle/>
          <a:p>
            <a:pPr marL="0" indent="0">
              <a:buNone/>
            </a:pPr>
            <a:r>
              <a:rPr lang="en-US" sz="1800" b="1" dirty="0">
                <a:solidFill>
                  <a:srgbClr val="0B2545"/>
                </a:solidFill>
                <a:latin typeface="Calibri" pitchFamily="34" charset="0"/>
                <a:ea typeface="Calibri" pitchFamily="34" charset="-122"/>
                <a:cs typeface="Calibri" pitchFamily="34" charset="-120"/>
              </a:rPr>
              <a:t>Kiểm tra phân phối điểm số</a:t>
            </a:r>
            <a:endParaRPr lang="en-US" sz="1800" dirty="0"/>
          </a:p>
          <a:p>
            <a:pPr marL="0" indent="0">
              <a:buNone/>
            </a:pPr>
            <a:r>
              <a:rPr lang="en-US" sz="1500" dirty="0">
                <a:solidFill>
                  <a:srgbClr val="1F2937"/>
                </a:solidFill>
                <a:latin typeface="Calibri" pitchFamily="34" charset="0"/>
                <a:ea typeface="Calibri" pitchFamily="34" charset="-122"/>
                <a:cs typeface="Calibri" pitchFamily="34" charset="-120"/>
              </a:rPr>
              <a:t>iTransformer: 97,2% member bão hòa, AUC cao nhưng TPR@1% = 0</a:t>
            </a:r>
            <a:endParaRPr lang="en-US" sz="1800" dirty="0"/>
          </a:p>
        </p:txBody>
      </p:sp>
      <p:sp>
        <p:nvSpPr>
          <p:cNvPr id="12" name="Shape 10"/>
          <p:cNvSpPr/>
          <p:nvPr/>
        </p:nvSpPr>
        <p:spPr>
          <a:xfrm>
            <a:off x="457200" y="3758184"/>
            <a:ext cx="8229600" cy="795528"/>
          </a:xfrm>
          <a:prstGeom prst="roundRect">
            <a:avLst>
              <a:gd name="adj" fmla="val 11494"/>
            </a:avLst>
          </a:prstGeom>
          <a:solidFill>
            <a:srgbClr val="EEF3F9"/>
          </a:solidFill>
          <a:ln w="12700">
            <a:solidFill>
              <a:srgbClr val="EEF3F9"/>
            </a:solidFill>
            <a:prstDash val="solid"/>
          </a:ln>
        </p:spPr>
        <p:txBody>
          <a:bodyPr/>
          <a:lstStyle/>
          <a:p>
            <a:endParaRPr lang="en-VN"/>
          </a:p>
        </p:txBody>
      </p:sp>
      <p:sp>
        <p:nvSpPr>
          <p:cNvPr id="13" name="Text 11"/>
          <p:cNvSpPr/>
          <p:nvPr/>
        </p:nvSpPr>
        <p:spPr>
          <a:xfrm>
            <a:off x="640080" y="3922776"/>
            <a:ext cx="457200" cy="457200"/>
          </a:xfrm>
          <a:prstGeom prst="ellipse">
            <a:avLst/>
          </a:prstGeom>
          <a:solidFill>
            <a:srgbClr val="E4572E"/>
          </a:solid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4</a:t>
            </a:r>
            <a:endParaRPr lang="en-US" sz="1600" dirty="0"/>
          </a:p>
        </p:txBody>
      </p:sp>
      <p:sp>
        <p:nvSpPr>
          <p:cNvPr id="14" name="Text 12"/>
          <p:cNvSpPr txBox="1"/>
          <p:nvPr/>
        </p:nvSpPr>
        <p:spPr>
          <a:xfrm>
            <a:off x="1325880" y="3813048"/>
            <a:ext cx="7223760" cy="685800"/>
          </a:xfrm>
          <a:prstGeom prst="rect">
            <a:avLst/>
          </a:prstGeom>
          <a:noFill/>
          <a:ln/>
        </p:spPr>
        <p:txBody>
          <a:bodyPr wrap="square" lIns="0" tIns="0" rIns="0" bIns="0" rtlCol="0" anchor="ctr"/>
          <a:lstStyle/>
          <a:p>
            <a:pPr marL="0" indent="0">
              <a:buNone/>
            </a:pPr>
            <a:r>
              <a:rPr lang="en-US" sz="1800" b="1" dirty="0">
                <a:solidFill>
                  <a:srgbClr val="0B2545"/>
                </a:solidFill>
                <a:latin typeface="Calibri" pitchFamily="34" charset="0"/>
                <a:ea typeface="Calibri" pitchFamily="34" charset="-122"/>
                <a:cs typeface="Calibri" pitchFamily="34" charset="-120"/>
              </a:rPr>
              <a:t>Mô hình lớn và dự báo cần bảo vệ</a:t>
            </a:r>
            <a:endParaRPr lang="en-US" sz="1800" dirty="0"/>
          </a:p>
          <a:p>
            <a:pPr marL="0" indent="0">
              <a:buNone/>
            </a:pPr>
            <a:r>
              <a:rPr lang="en-US" sz="1500" dirty="0">
                <a:solidFill>
                  <a:srgbClr val="1F2937"/>
                </a:solidFill>
                <a:latin typeface="Calibri" pitchFamily="34" charset="0"/>
                <a:ea typeface="Calibri" pitchFamily="34" charset="-122"/>
                <a:cs typeface="Calibri" pitchFamily="34" charset="-120"/>
              </a:rPr>
              <a:t>DP-SGD, nhiễu đầu ra, giới hạn truy vấn, dừng sớm</a:t>
            </a:r>
            <a:endParaRPr lang="en-US" sz="1800" dirty="0"/>
          </a:p>
        </p:txBody>
      </p:sp>
      <p:sp>
        <p:nvSpPr>
          <p:cNvPr id="25" name="Slide Number Placeholder 0"/>
          <p:cNvSpPr>
            <a:spLocks noGrp="1"/>
          </p:cNvSpPr>
          <p:nvPr>
            <p:ph type="sldNum" sz="quarter" idx="4294967295"/>
          </p:nvPr>
        </p:nvSpPr>
        <p:spPr>
          <a:xfrm>
            <a:off x="8229600" y="4773168"/>
            <a:ext cx="548640" cy="274320"/>
          </a:xfrm>
          <a:prstGeom prst="rect">
            <a:avLst/>
          </a:prstGeom>
          <a:extLst>
            <a:ext uri="{C572A759-6A51-4108-AA02-DFA0A04FC94B}">
              <ma14:wrappingTextBoxFlag xmlns:ma14="http://schemas.microsoft.com/office/mac/drawingml/2011/main" xmlns="" val="0"/>
            </a:ext>
          </a:extLst>
        </p:spPr>
        <p:txBody>
          <a:bodyPr/>
          <a:lstStyle>
            <a:lvl1pPr>
              <a:defRPr sz="1200">
                <a:solidFill>
                  <a:srgbClr val="6B7280"/>
                </a:solidFill>
                <a:latin typeface="Calibri"/>
                <a:ea typeface="Calibri"/>
                <a:cs typeface="Calibri"/>
              </a:defRPr>
            </a:lvl1pPr>
          </a:lstStyle>
          <a:p>
            <a:pPr algn="r"/>
            <a:fld id="{F7021451-1387-4CA6-816F-3879F97B5CBC}" type="slidenum">
              <a:rPr lang="en-US" b="0"/>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685800"/>
          </a:xfrm>
          <a:prstGeom prst="rect">
            <a:avLst/>
          </a:prstGeom>
          <a:noFill/>
          <a:ln/>
        </p:spPr>
        <p:txBody>
          <a:bodyPr wrap="square" lIns="0" tIns="0" rIns="0" bIns="0" rtlCol="0" anchor="ctr"/>
          <a:lstStyle/>
          <a:p>
            <a:pPr marL="0" indent="0">
              <a:buNone/>
            </a:pPr>
            <a:r>
              <a:rPr lang="en-US" sz="3000" b="1" dirty="0">
                <a:solidFill>
                  <a:srgbClr val="0B2545"/>
                </a:solidFill>
                <a:latin typeface="Cambria" pitchFamily="34" charset="0"/>
                <a:ea typeface="Cambria" pitchFamily="34" charset="-122"/>
                <a:cs typeface="Cambria" pitchFamily="34" charset="-120"/>
              </a:rPr>
              <a:t>Hạn chế và kết luận</a:t>
            </a:r>
            <a:endParaRPr lang="en-US" sz="3000" dirty="0"/>
          </a:p>
        </p:txBody>
      </p:sp>
      <p:sp>
        <p:nvSpPr>
          <p:cNvPr id="3" name="Shape 1"/>
          <p:cNvSpPr/>
          <p:nvPr/>
        </p:nvSpPr>
        <p:spPr>
          <a:xfrm>
            <a:off x="457200" y="1097280"/>
            <a:ext cx="4023360" cy="2926080"/>
          </a:xfrm>
          <a:prstGeom prst="roundRect">
            <a:avLst>
              <a:gd name="adj" fmla="val 3125"/>
            </a:avLst>
          </a:prstGeom>
          <a:solidFill>
            <a:srgbClr val="EEF3F9"/>
          </a:solidFill>
          <a:ln w="12700">
            <a:solidFill>
              <a:srgbClr val="EEF3F9"/>
            </a:solidFill>
            <a:prstDash val="solid"/>
          </a:ln>
        </p:spPr>
        <p:txBody>
          <a:bodyPr/>
          <a:lstStyle/>
          <a:p>
            <a:endParaRPr lang="en-VN"/>
          </a:p>
        </p:txBody>
      </p:sp>
      <p:sp>
        <p:nvSpPr>
          <p:cNvPr id="4" name="Text 2"/>
          <p:cNvSpPr txBox="1"/>
          <p:nvPr/>
        </p:nvSpPr>
        <p:spPr>
          <a:xfrm>
            <a:off x="640080" y="1188720"/>
            <a:ext cx="3657600" cy="320040"/>
          </a:xfrm>
          <a:prstGeom prst="rect">
            <a:avLst/>
          </a:prstGeom>
          <a:noFill/>
          <a:ln/>
        </p:spPr>
        <p:txBody>
          <a:bodyPr wrap="square" lIns="0" tIns="0" rIns="0" bIns="0" rtlCol="0" anchor="ctr"/>
          <a:lstStyle/>
          <a:p>
            <a:pPr marL="0" indent="0">
              <a:buNone/>
            </a:pPr>
            <a:r>
              <a:rPr lang="en-US" sz="1800" b="1" dirty="0">
                <a:solidFill>
                  <a:srgbClr val="0B2545"/>
                </a:solidFill>
                <a:latin typeface="Calibri" pitchFamily="34" charset="0"/>
                <a:ea typeface="Calibri" pitchFamily="34" charset="-122"/>
                <a:cs typeface="Calibri" pitchFamily="34" charset="-120"/>
              </a:rPr>
              <a:t>Hạn chế</a:t>
            </a:r>
            <a:endParaRPr lang="en-US" sz="1800" dirty="0"/>
          </a:p>
        </p:txBody>
      </p:sp>
      <p:sp>
        <p:nvSpPr>
          <p:cNvPr id="5" name="Text 3"/>
          <p:cNvSpPr txBox="1"/>
          <p:nvPr/>
        </p:nvSpPr>
        <p:spPr>
          <a:xfrm>
            <a:off x="640080" y="1600200"/>
            <a:ext cx="3657600" cy="2331720"/>
          </a:xfrm>
          <a:prstGeom prst="rect">
            <a:avLst/>
          </a:prstGeom>
          <a:noFill/>
          <a:ln/>
        </p:spPr>
        <p:txBody>
          <a:bodyPr wrap="square" lIns="0" tIns="0" rIns="0" bIns="0" rtlCol="0" anchor="t"/>
          <a:lstStyle/>
          <a:p>
            <a:pPr marL="342900" indent="-342900">
              <a:spcAft>
                <a:spcPts val="600"/>
              </a:spcAft>
              <a:buSzPct val="100000"/>
              <a:buChar char="•"/>
            </a:pPr>
            <a:r>
              <a:rPr lang="en-US" sz="1600" dirty="0">
                <a:solidFill>
                  <a:srgbClr val="1F2937"/>
                </a:solidFill>
                <a:latin typeface="Calibri" pitchFamily="34" charset="0"/>
                <a:ea typeface="Calibri" pitchFamily="34" charset="-122"/>
                <a:cs typeface="Calibri" pitchFamily="34" charset="-120"/>
              </a:rPr>
              <a:t>Mỗi mô hình chỉ huấn luyện một lần (seed 42)</a:t>
            </a:r>
            <a:endParaRPr lang="en-US" sz="1600" dirty="0"/>
          </a:p>
          <a:p>
            <a:pPr marL="342900" indent="-342900">
              <a:spcAft>
                <a:spcPts val="600"/>
              </a:spcAft>
              <a:buSzPct val="100000"/>
              <a:buChar char="•"/>
            </a:pPr>
            <a:r>
              <a:rPr lang="en-US" sz="1600" dirty="0">
                <a:solidFill>
                  <a:srgbClr val="1F2937"/>
                </a:solidFill>
                <a:latin typeface="Calibri" pitchFamily="34" charset="0"/>
                <a:ea typeface="Calibri" pitchFamily="34" charset="-122"/>
                <a:cs typeface="Calibri" pitchFamily="34" charset="-120"/>
              </a:rPr>
              <a:t>Chia record-level, ≥ 266 bệnh nhân trùng</a:t>
            </a:r>
            <a:endParaRPr lang="en-US" sz="1600" dirty="0"/>
          </a:p>
          <a:p>
            <a:pPr marL="342900" indent="-342900">
              <a:spcAft>
                <a:spcPts val="600"/>
              </a:spcAft>
              <a:buSzPct val="100000"/>
              <a:buChar char="•"/>
            </a:pPr>
            <a:r>
              <a:rPr lang="en-US" sz="1600" dirty="0">
                <a:solidFill>
                  <a:srgbClr val="1F2937"/>
                </a:solidFill>
                <a:latin typeface="Calibri" pitchFamily="34" charset="0"/>
                <a:ea typeface="Calibri" pitchFamily="34" charset="-122"/>
                <a:cs typeface="Calibri" pitchFamily="34" charset="-120"/>
              </a:rPr>
              <a:t>Một tập dữ liệu, chưa thử phòng thủ</a:t>
            </a:r>
            <a:endParaRPr lang="en-US" sz="1600" dirty="0"/>
          </a:p>
          <a:p>
            <a:pPr marL="342900" indent="-342900">
              <a:spcAft>
                <a:spcPts val="600"/>
              </a:spcAft>
              <a:buSzPct val="100000"/>
              <a:buChar char="•"/>
            </a:pPr>
            <a:r>
              <a:rPr lang="en-US" sz="1600" dirty="0">
                <a:solidFill>
                  <a:srgbClr val="1F2937"/>
                </a:solidFill>
                <a:latin typeface="Calibri" pitchFamily="34" charset="0"/>
                <a:ea typeface="Calibri" pitchFamily="34" charset="-122"/>
                <a:cs typeface="Calibri" pitchFamily="34" charset="-120"/>
              </a:rPr>
              <a:t>Công thức huấn luyện chưa đồng nhất</a:t>
            </a:r>
            <a:endParaRPr lang="en-US" sz="1600" dirty="0"/>
          </a:p>
        </p:txBody>
      </p:sp>
      <p:sp>
        <p:nvSpPr>
          <p:cNvPr id="6" name="Shape 4"/>
          <p:cNvSpPr/>
          <p:nvPr/>
        </p:nvSpPr>
        <p:spPr>
          <a:xfrm>
            <a:off x="4663440" y="1097280"/>
            <a:ext cx="4023360" cy="2926080"/>
          </a:xfrm>
          <a:prstGeom prst="roundRect">
            <a:avLst>
              <a:gd name="adj" fmla="val 3125"/>
            </a:avLst>
          </a:prstGeom>
          <a:solidFill>
            <a:srgbClr val="13315C"/>
          </a:solidFill>
          <a:ln w="12700">
            <a:solidFill>
              <a:srgbClr val="13315C"/>
            </a:solidFill>
            <a:prstDash val="solid"/>
          </a:ln>
        </p:spPr>
        <p:txBody>
          <a:bodyPr/>
          <a:lstStyle/>
          <a:p>
            <a:endParaRPr lang="en-VN"/>
          </a:p>
        </p:txBody>
      </p:sp>
      <p:sp>
        <p:nvSpPr>
          <p:cNvPr id="7" name="Text 5"/>
          <p:cNvSpPr txBox="1"/>
          <p:nvPr/>
        </p:nvSpPr>
        <p:spPr>
          <a:xfrm>
            <a:off x="4846320" y="1188720"/>
            <a:ext cx="3657600" cy="320040"/>
          </a:xfrm>
          <a:prstGeom prst="rect">
            <a:avLst/>
          </a:prstGeom>
          <a:noFill/>
          <a:ln/>
        </p:spPr>
        <p:txBody>
          <a:bodyPr wrap="square" lIns="0" tIns="0" rIns="0" bIns="0" rtlCol="0" anchor="ctr"/>
          <a:lstStyle/>
          <a:p>
            <a:pPr marL="0" indent="0">
              <a:buNone/>
            </a:pPr>
            <a:r>
              <a:rPr lang="en-US" sz="1800" b="1" dirty="0">
                <a:solidFill>
                  <a:srgbClr val="FFB199"/>
                </a:solidFill>
                <a:latin typeface="Calibri" pitchFamily="34" charset="0"/>
                <a:ea typeface="Calibri" pitchFamily="34" charset="-122"/>
                <a:cs typeface="Calibri" pitchFamily="34" charset="-120"/>
              </a:rPr>
              <a:t>Kết luận</a:t>
            </a:r>
            <a:endParaRPr lang="en-US" sz="1800" dirty="0"/>
          </a:p>
        </p:txBody>
      </p:sp>
      <p:sp>
        <p:nvSpPr>
          <p:cNvPr id="8" name="Text 6"/>
          <p:cNvSpPr txBox="1"/>
          <p:nvPr/>
        </p:nvSpPr>
        <p:spPr>
          <a:xfrm>
            <a:off x="4846320" y="1600200"/>
            <a:ext cx="3657600" cy="2331720"/>
          </a:xfrm>
          <a:prstGeom prst="rect">
            <a:avLst/>
          </a:prstGeom>
          <a:noFill/>
          <a:ln/>
        </p:spPr>
        <p:txBody>
          <a:bodyPr wrap="square" lIns="0" tIns="0" rIns="0" bIns="0" rtlCol="0" anchor="t"/>
          <a:lstStyle/>
          <a:p>
            <a:pPr marL="342900" indent="-342900">
              <a:spcAft>
                <a:spcPts val="500"/>
              </a:spcAft>
              <a:buSzPct val="100000"/>
              <a:buChar char="•"/>
            </a:pPr>
            <a:r>
              <a:rPr lang="en-US" sz="1500" dirty="0">
                <a:solidFill>
                  <a:srgbClr val="FFFFFF"/>
                </a:solidFill>
                <a:latin typeface="Calibri" pitchFamily="34" charset="0"/>
                <a:ea typeface="Calibri" pitchFamily="34" charset="-122"/>
                <a:cs typeface="Calibri" pitchFamily="34" charset="-120"/>
              </a:rPr>
              <a:t>RQ1: kiến trúc không quyết định mức rò rỉ</a:t>
            </a:r>
            <a:endParaRPr lang="en-US" sz="1500" dirty="0"/>
          </a:p>
          <a:p>
            <a:pPr marL="342900" indent="-342900">
              <a:spcAft>
                <a:spcPts val="500"/>
              </a:spcAft>
              <a:buSzPct val="100000"/>
              <a:buChar char="•"/>
            </a:pPr>
            <a:r>
              <a:rPr lang="en-US" sz="1500" dirty="0">
                <a:solidFill>
                  <a:srgbClr val="FFFFFF"/>
                </a:solidFill>
                <a:latin typeface="Calibri" pitchFamily="34" charset="0"/>
                <a:ea typeface="Calibri" pitchFamily="34" charset="-122"/>
                <a:cs typeface="Calibri" pitchFamily="34" charset="-120"/>
              </a:rPr>
              <a:t>RQ2: dự báo rò rỉ nhiều hơn phân loại ở cả 5 mô hình</a:t>
            </a:r>
            <a:endParaRPr lang="en-US" sz="1500" dirty="0"/>
          </a:p>
          <a:p>
            <a:pPr marL="342900" indent="-342900">
              <a:spcAft>
                <a:spcPts val="500"/>
              </a:spcAft>
              <a:buSzPct val="100000"/>
              <a:buChar char="•"/>
            </a:pPr>
            <a:r>
              <a:rPr lang="en-US" sz="1500" dirty="0">
                <a:solidFill>
                  <a:srgbClr val="FFFFFF"/>
                </a:solidFill>
                <a:latin typeface="Calibri" pitchFamily="34" charset="0"/>
                <a:ea typeface="Calibri" pitchFamily="34" charset="-122"/>
                <a:cs typeface="Calibri" pitchFamily="34" charset="-120"/>
              </a:rPr>
              <a:t>MOMENT rò rỉ nhiều nhất (dự báo 97,7%)</a:t>
            </a:r>
            <a:endParaRPr lang="en-US" sz="1500" dirty="0"/>
          </a:p>
          <a:p>
            <a:pPr marL="342900" indent="-342900">
              <a:spcAft>
                <a:spcPts val="500"/>
              </a:spcAft>
              <a:buSzPct val="100000"/>
              <a:buChar char="•"/>
            </a:pPr>
            <a:r>
              <a:rPr lang="en-US" sz="1500" dirty="0">
                <a:solidFill>
                  <a:srgbClr val="FFFFFF"/>
                </a:solidFill>
                <a:latin typeface="Calibri" pitchFamily="34" charset="0"/>
                <a:ea typeface="Calibri" pitchFamily="34" charset="-122"/>
                <a:cs typeface="Calibri" pitchFamily="34" charset="-120"/>
              </a:rPr>
              <a:t>Cần nhiều họ tấn công, không chỉ Loss</a:t>
            </a:r>
            <a:endParaRPr lang="en-US" sz="1500" dirty="0"/>
          </a:p>
        </p:txBody>
      </p:sp>
      <p:sp>
        <p:nvSpPr>
          <p:cNvPr id="9" name="Text 7"/>
          <p:cNvSpPr txBox="1"/>
          <p:nvPr/>
        </p:nvSpPr>
        <p:spPr>
          <a:xfrm>
            <a:off x="457200" y="4206240"/>
            <a:ext cx="7680960" cy="457200"/>
          </a:xfrm>
          <a:prstGeom prst="rect">
            <a:avLst/>
          </a:prstGeom>
          <a:noFill/>
          <a:ln/>
        </p:spPr>
        <p:txBody>
          <a:bodyPr wrap="square" lIns="0" tIns="0" rIns="0" bIns="0" rtlCol="0" anchor="ctr"/>
          <a:lstStyle/>
          <a:p>
            <a:pPr marL="0" indent="0">
              <a:buNone/>
            </a:pPr>
            <a:r>
              <a:rPr lang="en-US" sz="1600" b="1" dirty="0">
                <a:solidFill>
                  <a:srgbClr val="E4572E"/>
                </a:solidFill>
                <a:latin typeface="Calibri" pitchFamily="34" charset="0"/>
                <a:ea typeface="Calibri" pitchFamily="34" charset="-122"/>
                <a:cs typeface="Calibri" pitchFamily="34" charset="-120"/>
              </a:rPr>
              <a:t>Tiếp theo: </a:t>
            </a:r>
            <a:r>
              <a:rPr lang="en-US" sz="1600" dirty="0">
                <a:solidFill>
                  <a:srgbClr val="1F2937"/>
                </a:solidFill>
                <a:latin typeface="Calibri" pitchFamily="34" charset="0"/>
                <a:ea typeface="Calibri" pitchFamily="34" charset="-122"/>
                <a:cs typeface="Calibri" pitchFamily="34" charset="-120"/>
              </a:rPr>
              <a:t>nhiều seed, đối chứng MOMENT, chia theo bệnh nhân, DP-SGD</a:t>
            </a:r>
            <a:endParaRPr lang="en-US" sz="1600" dirty="0"/>
          </a:p>
        </p:txBody>
      </p:sp>
      <p:sp>
        <p:nvSpPr>
          <p:cNvPr id="25" name="Slide Number Placeholder 0"/>
          <p:cNvSpPr>
            <a:spLocks noGrp="1"/>
          </p:cNvSpPr>
          <p:nvPr>
            <p:ph type="sldNum" sz="quarter" idx="4294967295"/>
          </p:nvPr>
        </p:nvSpPr>
        <p:spPr>
          <a:xfrm>
            <a:off x="8229600" y="4773168"/>
            <a:ext cx="548640" cy="274320"/>
          </a:xfrm>
          <a:prstGeom prst="rect">
            <a:avLst/>
          </a:prstGeom>
          <a:extLst>
            <a:ext uri="{C572A759-6A51-4108-AA02-DFA0A04FC94B}">
              <ma14:wrappingTextBoxFlag xmlns:ma14="http://schemas.microsoft.com/office/mac/drawingml/2011/main" xmlns="" val="0"/>
            </a:ext>
          </a:extLst>
        </p:spPr>
        <p:txBody>
          <a:bodyPr/>
          <a:lstStyle>
            <a:lvl1pPr>
              <a:defRPr sz="1200">
                <a:solidFill>
                  <a:srgbClr val="6B7280"/>
                </a:solidFill>
                <a:latin typeface="Calibri"/>
                <a:ea typeface="Calibri"/>
                <a:cs typeface="Calibri"/>
              </a:defRPr>
            </a:lvl1pPr>
          </a:lstStyle>
          <a:p>
            <a:pPr algn="r"/>
            <a:fld id="{F7021451-1387-4CA6-816F-3879F97B5CBC}" type="slidenum">
              <a:rPr lang="en-US" b="0"/>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685800"/>
          </a:xfrm>
          <a:prstGeom prst="rect">
            <a:avLst/>
          </a:prstGeom>
          <a:noFill/>
          <a:ln/>
        </p:spPr>
        <p:txBody>
          <a:bodyPr wrap="square" lIns="0" tIns="0" rIns="0" bIns="0" rtlCol="0" anchor="ctr"/>
          <a:lstStyle/>
          <a:p>
            <a:pPr marL="0" indent="0">
              <a:buNone/>
            </a:pPr>
            <a:r>
              <a:rPr lang="en-US" sz="3000" b="1" dirty="0">
                <a:solidFill>
                  <a:srgbClr val="0B2545"/>
                </a:solidFill>
                <a:latin typeface="Cambria" pitchFamily="34" charset="0"/>
                <a:ea typeface="Cambria" pitchFamily="34" charset="-122"/>
                <a:cs typeface="Cambria" pitchFamily="34" charset="-120"/>
              </a:rPr>
              <a:t>Phân công thành viên</a:t>
            </a:r>
            <a:endParaRPr lang="en-US" sz="3000" dirty="0"/>
          </a:p>
        </p:txBody>
      </p:sp>
      <p:sp>
        <p:nvSpPr>
          <p:cNvPr id="25" name="Slide Number Placeholder 0"/>
          <p:cNvSpPr>
            <a:spLocks noGrp="1"/>
          </p:cNvSpPr>
          <p:nvPr>
            <p:ph type="sldNum" sz="quarter" idx="4294967295"/>
          </p:nvPr>
        </p:nvSpPr>
        <p:spPr>
          <a:xfrm>
            <a:off x="8229600" y="4773168"/>
            <a:ext cx="548640" cy="274320"/>
          </a:xfrm>
          <a:prstGeom prst="rect">
            <a:avLst/>
          </a:prstGeom>
          <a:extLst>
            <a:ext uri="{C572A759-6A51-4108-AA02-DFA0A04FC94B}">
              <ma14:wrappingTextBoxFlag xmlns:ma14="http://schemas.microsoft.com/office/mac/drawingml/2011/main" xmlns="" val="0"/>
            </a:ext>
          </a:extLst>
        </p:spPr>
        <p:txBody>
          <a:bodyPr/>
          <a:lstStyle>
            <a:lvl1pPr>
              <a:defRPr sz="1200">
                <a:solidFill>
                  <a:srgbClr val="6B7280"/>
                </a:solidFill>
                <a:latin typeface="Calibri"/>
                <a:ea typeface="Calibri"/>
                <a:cs typeface="Calibri"/>
              </a:defRPr>
            </a:lvl1pPr>
          </a:lstStyle>
          <a:p>
            <a:pPr algn="r"/>
            <a:fld id="{F7021451-1387-4CA6-816F-3879F97B5CBC}" type="slidenum">
              <a:rPr lang="en-US" b="0"/>
              <a:t>13</a:t>
            </a:fld>
            <a:endParaRPr lang="en-US"/>
          </a:p>
        </p:txBody>
      </p:sp>
      <p:graphicFrame>
        <p:nvGraphicFramePr>
          <p:cNvPr id="20" name="Table 19">
            <a:extLst>
              <a:ext uri="{FF2B5EF4-FFF2-40B4-BE49-F238E27FC236}">
                <a16:creationId xmlns:a16="http://schemas.microsoft.com/office/drawing/2014/main" id="{53EF138A-1629-7481-761E-04E80FC8D798}"/>
              </a:ext>
            </a:extLst>
          </p:cNvPr>
          <p:cNvGraphicFramePr>
            <a:graphicFrameLocks noGrp="1"/>
          </p:cNvGraphicFramePr>
          <p:nvPr>
            <p:extLst>
              <p:ext uri="{D42A27DB-BD31-4B8C-83A1-F6EECF244321}">
                <p14:modId xmlns:p14="http://schemas.microsoft.com/office/powerpoint/2010/main" val="1545170752"/>
              </p:ext>
            </p:extLst>
          </p:nvPr>
        </p:nvGraphicFramePr>
        <p:xfrm>
          <a:off x="790575" y="960120"/>
          <a:ext cx="7562849" cy="4076169"/>
        </p:xfrm>
        <a:graphic>
          <a:graphicData uri="http://schemas.openxmlformats.org/drawingml/2006/table">
            <a:tbl>
              <a:tblPr firstRow="1" bandRow="1">
                <a:tableStyleId>{5940675A-B579-460E-94D1-54222C63F5DA}</a:tableStyleId>
              </a:tblPr>
              <a:tblGrid>
                <a:gridCol w="1122045">
                  <a:extLst>
                    <a:ext uri="{9D8B030D-6E8A-4147-A177-3AD203B41FA5}">
                      <a16:colId xmlns:a16="http://schemas.microsoft.com/office/drawing/2014/main" val="1776450366"/>
                    </a:ext>
                  </a:extLst>
                </a:gridCol>
                <a:gridCol w="5242560">
                  <a:extLst>
                    <a:ext uri="{9D8B030D-6E8A-4147-A177-3AD203B41FA5}">
                      <a16:colId xmlns:a16="http://schemas.microsoft.com/office/drawing/2014/main" val="234471423"/>
                    </a:ext>
                  </a:extLst>
                </a:gridCol>
                <a:gridCol w="1198244">
                  <a:extLst>
                    <a:ext uri="{9D8B030D-6E8A-4147-A177-3AD203B41FA5}">
                      <a16:colId xmlns:a16="http://schemas.microsoft.com/office/drawing/2014/main" val="488238329"/>
                    </a:ext>
                  </a:extLst>
                </a:gridCol>
              </a:tblGrid>
              <a:tr h="540489">
                <a:tc>
                  <a:txBody>
                    <a:bodyPr/>
                    <a:lstStyle/>
                    <a:p>
                      <a:pPr algn="ctr"/>
                      <a:r>
                        <a:rPr lang="en-VN" sz="1500" b="1" dirty="0"/>
                        <a:t>Thành viên</a:t>
                      </a:r>
                    </a:p>
                  </a:txBody>
                  <a:tcPr/>
                </a:tc>
                <a:tc>
                  <a:txBody>
                    <a:bodyPr/>
                    <a:lstStyle/>
                    <a:p>
                      <a:pPr algn="ctr"/>
                      <a:r>
                        <a:rPr lang="en-VN" sz="1500" b="1" dirty="0"/>
                        <a:t>Công việc đã thực hiện</a:t>
                      </a:r>
                    </a:p>
                  </a:txBody>
                  <a:tcPr/>
                </a:tc>
                <a:tc>
                  <a:txBody>
                    <a:bodyPr/>
                    <a:lstStyle/>
                    <a:p>
                      <a:pPr algn="ctr"/>
                      <a:r>
                        <a:rPr lang="en-VN" sz="1500" b="1" dirty="0"/>
                        <a:t>Kết quả</a:t>
                      </a:r>
                    </a:p>
                  </a:txBody>
                  <a:tcPr/>
                </a:tc>
                <a:extLst>
                  <a:ext uri="{0D108BD9-81ED-4DB2-BD59-A6C34878D82A}">
                    <a16:rowId xmlns:a16="http://schemas.microsoft.com/office/drawing/2014/main" val="2097662341"/>
                  </a:ext>
                </a:extLst>
              </a:tr>
              <a:tr h="681868">
                <a:tc>
                  <a:txBody>
                    <a:bodyPr/>
                    <a:lstStyle/>
                    <a:p>
                      <a:r>
                        <a:rPr lang="en-VN" sz="1300" dirty="0"/>
                        <a:t>25C12018 – Bùi Lê Hoài An</a:t>
                      </a:r>
                    </a:p>
                  </a:txBody>
                  <a:tcPr/>
                </a:tc>
                <a:tc>
                  <a:txBody>
                    <a:bodyPr/>
                    <a:lstStyle/>
                    <a:p>
                      <a:pPr marL="285750" indent="-285750">
                        <a:buFontTx/>
                        <a:buChar char="-"/>
                      </a:pPr>
                      <a:r>
                        <a:rPr lang="en-VN" sz="1300" dirty="0"/>
                        <a:t>Tìm hiểu LTSM, TCN paper.</a:t>
                      </a:r>
                    </a:p>
                    <a:p>
                      <a:pPr marL="285750" indent="-285750">
                        <a:buFontTx/>
                        <a:buChar char="-"/>
                      </a:pPr>
                      <a:r>
                        <a:rPr lang="en-VN" sz="1300" dirty="0"/>
                        <a:t>Xây dựng pipeline (huấn luyện, tấn công, phân tích) cho LTSM, TCN. </a:t>
                      </a:r>
                    </a:p>
                    <a:p>
                      <a:pPr marL="285750" indent="-285750">
                        <a:buFontTx/>
                        <a:buChar char="-"/>
                      </a:pPr>
                      <a:r>
                        <a:rPr lang="en-VN" sz="1300" dirty="0"/>
                        <a:t>Đóng góp source code, viết báo cáo, đánh giá. </a:t>
                      </a:r>
                    </a:p>
                  </a:txBody>
                  <a:tcPr/>
                </a:tc>
                <a:tc>
                  <a:txBody>
                    <a:bodyPr/>
                    <a:lstStyle/>
                    <a:p>
                      <a:pPr marL="0" indent="0">
                        <a:buFontTx/>
                        <a:buNone/>
                      </a:pPr>
                      <a:r>
                        <a:rPr lang="en-VN" sz="1300" dirty="0"/>
                        <a:t>Hoàn Thành</a:t>
                      </a:r>
                    </a:p>
                  </a:txBody>
                  <a:tcPr/>
                </a:tc>
                <a:extLst>
                  <a:ext uri="{0D108BD9-81ED-4DB2-BD59-A6C34878D82A}">
                    <a16:rowId xmlns:a16="http://schemas.microsoft.com/office/drawing/2014/main" val="3681972389"/>
                  </a:ext>
                </a:extLst>
              </a:tr>
              <a:tr h="681868">
                <a:tc>
                  <a:txBody>
                    <a:bodyPr/>
                    <a:lstStyle/>
                    <a:p>
                      <a:r>
                        <a:rPr lang="en-VN" sz="1300" dirty="0"/>
                        <a:t>25C12022 – Trần Trọng Hoàng</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VN" sz="1300" dirty="0"/>
                        <a:t>-      Tìm hiểu PatchTST paper.</a:t>
                      </a:r>
                    </a:p>
                    <a:p>
                      <a:pPr marL="285750" marR="0" lvl="0" indent="-285750" algn="l" defTabSz="914400" rtl="0" eaLnBrk="1" fontAlgn="auto" latinLnBrk="0" hangingPunct="1">
                        <a:lnSpc>
                          <a:spcPct val="100000"/>
                        </a:lnSpc>
                        <a:spcBef>
                          <a:spcPts val="0"/>
                        </a:spcBef>
                        <a:spcAft>
                          <a:spcPts val="0"/>
                        </a:spcAft>
                        <a:buClrTx/>
                        <a:buSzTx/>
                        <a:buFontTx/>
                        <a:buChar char="-"/>
                        <a:tabLst/>
                        <a:defRPr/>
                      </a:pPr>
                      <a:r>
                        <a:rPr lang="en-VN" sz="1300" dirty="0"/>
                        <a:t>Xây dựng pipeline (huấn luyện, tấn công, phân tích) cho PatchTST.</a:t>
                      </a:r>
                    </a:p>
                    <a:p>
                      <a:pPr marL="285750" lvl="0" indent="-285750">
                        <a:buClrTx/>
                        <a:buSzTx/>
                        <a:buFontTx/>
                        <a:buChar char="-"/>
                      </a:pPr>
                      <a:r>
                        <a:rPr lang="en-VN" sz="1300" dirty="0"/>
                        <a:t>Đóng góp source code, viết báo cáo, đánh giá. </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VN" sz="1300" dirty="0"/>
                        <a:t>Hoàn Thành</a:t>
                      </a:r>
                    </a:p>
                    <a:p>
                      <a:pPr marL="285750" lvl="0" indent="-285750">
                        <a:buClrTx/>
                        <a:buSzTx/>
                        <a:buFontTx/>
                        <a:buChar char="-"/>
                      </a:pPr>
                      <a:endParaRPr lang="en-VN" sz="1300" dirty="0"/>
                    </a:p>
                  </a:txBody>
                  <a:tcPr/>
                </a:tc>
                <a:extLst>
                  <a:ext uri="{0D108BD9-81ED-4DB2-BD59-A6C34878D82A}">
                    <a16:rowId xmlns:a16="http://schemas.microsoft.com/office/drawing/2014/main" val="4292011745"/>
                  </a:ext>
                </a:extLst>
              </a:tr>
              <a:tr h="681868">
                <a:tc>
                  <a:txBody>
                    <a:bodyPr/>
                    <a:lstStyle/>
                    <a:p>
                      <a:r>
                        <a:rPr lang="en-VN" sz="1300" dirty="0"/>
                        <a:t>25C01025 – Cao Anh Tuấn</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VN" sz="1300" dirty="0"/>
                        <a:t>-      Tìm hiểu iTransformer paper</a:t>
                      </a:r>
                    </a:p>
                    <a:p>
                      <a:pPr marL="285750" marR="0" lvl="0" indent="-285750" algn="l" defTabSz="914400" rtl="0" eaLnBrk="1" fontAlgn="auto" latinLnBrk="0" hangingPunct="1">
                        <a:lnSpc>
                          <a:spcPct val="100000"/>
                        </a:lnSpc>
                        <a:spcBef>
                          <a:spcPts val="0"/>
                        </a:spcBef>
                        <a:spcAft>
                          <a:spcPts val="0"/>
                        </a:spcAft>
                        <a:buClrTx/>
                        <a:buSzTx/>
                        <a:buFontTx/>
                        <a:buChar char="-"/>
                        <a:tabLst/>
                        <a:defRPr/>
                      </a:pPr>
                      <a:r>
                        <a:rPr lang="en-VN" sz="1300" dirty="0"/>
                        <a:t>Xây dựng pipeline (huấn luyện, tấn công, phân tích) cho iTransformer.</a:t>
                      </a:r>
                    </a:p>
                    <a:p>
                      <a:pPr marL="285750" lvl="0" indent="-285750">
                        <a:buClrTx/>
                        <a:buSzTx/>
                        <a:buFontTx/>
                        <a:buChar char="-"/>
                      </a:pPr>
                      <a:r>
                        <a:rPr lang="en-VN" sz="1300" dirty="0"/>
                        <a:t>Đóng góp source code, viết báo cáo, đánh giá. </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VN" sz="1300" dirty="0"/>
                        <a:t>Hoàn Thành</a:t>
                      </a:r>
                    </a:p>
                    <a:p>
                      <a:pPr marL="285750" lvl="0" indent="-285750">
                        <a:buClrTx/>
                        <a:buSzTx/>
                        <a:buFontTx/>
                        <a:buChar char="-"/>
                      </a:pPr>
                      <a:endParaRPr lang="en-VN" sz="1300" dirty="0"/>
                    </a:p>
                  </a:txBody>
                  <a:tcPr/>
                </a:tc>
                <a:extLst>
                  <a:ext uri="{0D108BD9-81ED-4DB2-BD59-A6C34878D82A}">
                    <a16:rowId xmlns:a16="http://schemas.microsoft.com/office/drawing/2014/main" val="918567784"/>
                  </a:ext>
                </a:extLst>
              </a:tr>
              <a:tr h="1456319">
                <a:tc>
                  <a:txBody>
                    <a:bodyPr/>
                    <a:lstStyle/>
                    <a:p>
                      <a:r>
                        <a:rPr lang="en-VN" sz="1300" dirty="0"/>
                        <a:t>25C12008 – Lê Thành Ngọc</a:t>
                      </a:r>
                    </a:p>
                  </a:txBody>
                  <a:tcPr/>
                </a:tc>
                <a:tc>
                  <a:txBody>
                    <a:bodyPr/>
                    <a:lstStyle/>
                    <a:p>
                      <a:pPr marL="285750" marR="0" lvl="0" indent="-285750" algn="l" defTabSz="914400" rtl="0" eaLnBrk="1" fontAlgn="auto" latinLnBrk="0" hangingPunct="1">
                        <a:lnSpc>
                          <a:spcPct val="100000"/>
                        </a:lnSpc>
                        <a:spcBef>
                          <a:spcPts val="0"/>
                        </a:spcBef>
                        <a:spcAft>
                          <a:spcPts val="0"/>
                        </a:spcAft>
                        <a:buClrTx/>
                        <a:buSzTx/>
                        <a:buFontTx/>
                        <a:buChar char="-"/>
                        <a:tabLst/>
                        <a:defRPr/>
                      </a:pPr>
                      <a:r>
                        <a:rPr lang="en-VN" sz="1300" dirty="0"/>
                        <a:t>Xây dựng cấu trúc chung có toàn bộ phần bài làm của nhóm(ý tưởng, quá trình thực hiện, khung sườn báo cáo). </a:t>
                      </a:r>
                    </a:p>
                    <a:p>
                      <a:pPr marL="285750" marR="0" lvl="0" indent="-285750" algn="l" defTabSz="914400" rtl="0" eaLnBrk="1" fontAlgn="auto" latinLnBrk="0" hangingPunct="1">
                        <a:lnSpc>
                          <a:spcPct val="100000"/>
                        </a:lnSpc>
                        <a:spcBef>
                          <a:spcPts val="0"/>
                        </a:spcBef>
                        <a:spcAft>
                          <a:spcPts val="0"/>
                        </a:spcAft>
                        <a:buClrTx/>
                        <a:buSzTx/>
                        <a:buFontTx/>
                        <a:buChar char="-"/>
                        <a:tabLst/>
                        <a:defRPr/>
                      </a:pPr>
                      <a:r>
                        <a:rPr lang="en-VN" sz="1300" dirty="0"/>
                        <a:t>Tìm hiểu MOMENT paper.</a:t>
                      </a:r>
                    </a:p>
                    <a:p>
                      <a:pPr marL="285750" marR="0" lvl="0" indent="-285750" algn="l" defTabSz="914400" rtl="0" eaLnBrk="1" fontAlgn="auto" latinLnBrk="0" hangingPunct="1">
                        <a:lnSpc>
                          <a:spcPct val="100000"/>
                        </a:lnSpc>
                        <a:spcBef>
                          <a:spcPts val="0"/>
                        </a:spcBef>
                        <a:spcAft>
                          <a:spcPts val="0"/>
                        </a:spcAft>
                        <a:buClrTx/>
                        <a:buSzTx/>
                        <a:buFontTx/>
                        <a:buChar char="-"/>
                        <a:tabLst/>
                        <a:defRPr/>
                      </a:pPr>
                      <a:r>
                        <a:rPr lang="en-VN" sz="1300" dirty="0"/>
                        <a:t>Xây dựng pipeline (huấn luyện, tấn công, phân tích) cho MOMENT.</a:t>
                      </a:r>
                    </a:p>
                    <a:p>
                      <a:pPr marL="285750" lvl="0" indent="-285750">
                        <a:buClrTx/>
                        <a:buSzTx/>
                        <a:buFontTx/>
                        <a:buChar char="-"/>
                      </a:pPr>
                      <a:r>
                        <a:rPr lang="en-VN" sz="1300" dirty="0"/>
                        <a:t>Đóng góp source code, viết báo cáo, đánh giá. </a:t>
                      </a:r>
                    </a:p>
                    <a:p>
                      <a:pPr marL="285750" lvl="0" indent="-285750">
                        <a:buClrTx/>
                        <a:buSzTx/>
                        <a:buFontTx/>
                        <a:buChar char="-"/>
                      </a:pPr>
                      <a:r>
                        <a:rPr lang="en-VN" sz="1300" dirty="0"/>
                        <a:t>Xây dựng slide và thuyết trình báo cáo.</a:t>
                      </a:r>
                    </a:p>
                    <a:p>
                      <a:endParaRPr lang="en-VN" sz="13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VN" sz="1300" dirty="0"/>
                        <a:t>Hoàn Thành</a:t>
                      </a:r>
                    </a:p>
                    <a:p>
                      <a:pPr marL="0" indent="0">
                        <a:buFont typeface="Arial" panose="020B0604020202020204" pitchFamily="34" charset="0"/>
                        <a:buNone/>
                      </a:pPr>
                      <a:endParaRPr lang="en-VN" sz="1300" dirty="0"/>
                    </a:p>
                  </a:txBody>
                  <a:tcPr/>
                </a:tc>
                <a:extLst>
                  <a:ext uri="{0D108BD9-81ED-4DB2-BD59-A6C34878D82A}">
                    <a16:rowId xmlns:a16="http://schemas.microsoft.com/office/drawing/2014/main" val="652522678"/>
                  </a:ext>
                </a:extLst>
              </a:tr>
            </a:tbl>
          </a:graphicData>
        </a:graphic>
      </p:graphicFrame>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685800"/>
          </a:xfrm>
          <a:prstGeom prst="rect">
            <a:avLst/>
          </a:prstGeom>
          <a:noFill/>
          <a:ln/>
        </p:spPr>
        <p:txBody>
          <a:bodyPr wrap="square" lIns="0" tIns="0" rIns="0" bIns="0" rtlCol="0" anchor="ctr"/>
          <a:lstStyle/>
          <a:p>
            <a:pPr marL="0" indent="0">
              <a:buNone/>
            </a:pPr>
            <a:r>
              <a:rPr lang="en-US" sz="3000" b="1" dirty="0">
                <a:solidFill>
                  <a:srgbClr val="0B2545"/>
                </a:solidFill>
                <a:latin typeface="Cambria" pitchFamily="34" charset="0"/>
                <a:ea typeface="Cambria" pitchFamily="34" charset="-122"/>
                <a:cs typeface="Cambria" pitchFamily="34" charset="-120"/>
              </a:rPr>
              <a:t>Tài liệu tham khảo</a:t>
            </a:r>
            <a:endParaRPr lang="en-US" sz="3000" dirty="0"/>
          </a:p>
        </p:txBody>
      </p:sp>
      <p:sp>
        <p:nvSpPr>
          <p:cNvPr id="3" name="Text 1"/>
          <p:cNvSpPr txBox="1"/>
          <p:nvPr/>
        </p:nvSpPr>
        <p:spPr>
          <a:xfrm>
            <a:off x="457200" y="1051560"/>
            <a:ext cx="4023360" cy="3611880"/>
          </a:xfrm>
          <a:prstGeom prst="rect">
            <a:avLst/>
          </a:prstGeom>
          <a:noFill/>
          <a:ln/>
        </p:spPr>
        <p:txBody>
          <a:bodyPr wrap="square" lIns="0" tIns="0" rIns="0" bIns="0" rtlCol="0" anchor="t"/>
          <a:lstStyle/>
          <a:p>
            <a:pPr marL="0" indent="0">
              <a:spcAft>
                <a:spcPts val="400"/>
              </a:spcAft>
              <a:buNone/>
            </a:pPr>
            <a:r>
              <a:rPr lang="en-US" sz="1050" dirty="0">
                <a:solidFill>
                  <a:srgbClr val="1F2937"/>
                </a:solidFill>
                <a:latin typeface="Calibri" pitchFamily="34" charset="0"/>
                <a:ea typeface="Calibri" pitchFamily="34" charset="-122"/>
                <a:cs typeface="Calibri" pitchFamily="34" charset="-120"/>
              </a:rPr>
              <a:t>[1] R. Shokri, M. Stronati, C. Song, V. Shmatikov. Membership Inference Attacks Against Machine Learning Models. IEEE S&amp;P, 2017.</a:t>
            </a:r>
            <a:endParaRPr lang="en-US" sz="1050" dirty="0"/>
          </a:p>
          <a:p>
            <a:pPr marL="0" indent="0">
              <a:spcAft>
                <a:spcPts val="400"/>
              </a:spcAft>
              <a:buNone/>
            </a:pPr>
            <a:r>
              <a:rPr lang="en-US" sz="1050" dirty="0">
                <a:solidFill>
                  <a:srgbClr val="1F2937"/>
                </a:solidFill>
                <a:latin typeface="Calibri" pitchFamily="34" charset="0"/>
                <a:ea typeface="Calibri" pitchFamily="34" charset="-122"/>
                <a:cs typeface="Calibri" pitchFamily="34" charset="-120"/>
              </a:rPr>
              <a:t>[2] N. Carlini, S. Chien, M. Nasr, S. Song, A. Terzis, F. Tramèr. Membership Inference Attacks From First Principles. IEEE S&amp;P, 2022, pp. 1897–1914.</a:t>
            </a:r>
            <a:endParaRPr lang="en-US" sz="1050" dirty="0"/>
          </a:p>
          <a:p>
            <a:pPr marL="0" indent="0">
              <a:spcAft>
                <a:spcPts val="400"/>
              </a:spcAft>
              <a:buNone/>
            </a:pPr>
            <a:r>
              <a:rPr lang="en-US" sz="1050" dirty="0">
                <a:solidFill>
                  <a:srgbClr val="1F2937"/>
                </a:solidFill>
                <a:latin typeface="Calibri" pitchFamily="34" charset="0"/>
                <a:ea typeface="Calibri" pitchFamily="34" charset="-122"/>
                <a:cs typeface="Calibri" pitchFamily="34" charset="-120"/>
              </a:rPr>
              <a:t>[3] P. Wagner et al. PTB-XL, a large publicly available electrocardiography dataset. Scientific Data, 7:154, 2020.</a:t>
            </a:r>
            <a:endParaRPr lang="en-US" sz="1050" dirty="0"/>
          </a:p>
          <a:p>
            <a:pPr marL="0" indent="0">
              <a:spcAft>
                <a:spcPts val="400"/>
              </a:spcAft>
              <a:buNone/>
            </a:pPr>
            <a:r>
              <a:rPr lang="en-US" sz="1050" dirty="0">
                <a:solidFill>
                  <a:srgbClr val="1F2937"/>
                </a:solidFill>
                <a:latin typeface="Calibri" pitchFamily="34" charset="0"/>
                <a:ea typeface="Calibri" pitchFamily="34" charset="-122"/>
                <a:cs typeface="Calibri" pitchFamily="34" charset="-120"/>
              </a:rPr>
              <a:t>[4] S. Hochreiter, J. Schmidhuber. Long Short-Term Memory. Neural Computation, 9(8):1735–1780, 1997.</a:t>
            </a:r>
            <a:endParaRPr lang="en-US" sz="1050" dirty="0"/>
          </a:p>
          <a:p>
            <a:pPr marL="0" indent="0">
              <a:spcAft>
                <a:spcPts val="400"/>
              </a:spcAft>
              <a:buNone/>
            </a:pPr>
            <a:r>
              <a:rPr lang="en-US" sz="1050" dirty="0">
                <a:solidFill>
                  <a:srgbClr val="1F2937"/>
                </a:solidFill>
                <a:latin typeface="Calibri" pitchFamily="34" charset="0"/>
                <a:ea typeface="Calibri" pitchFamily="34" charset="-122"/>
                <a:cs typeface="Calibri" pitchFamily="34" charset="-120"/>
              </a:rPr>
              <a:t>[5] S. Bai, J. Z. Kolter, V. Koltun. An Empirical Evaluation of Generic Convolutional and Recurrent Networks for Sequence Modeling. arXiv:1803.01271, 2018.</a:t>
            </a:r>
            <a:endParaRPr lang="en-US" sz="1050" dirty="0"/>
          </a:p>
          <a:p>
            <a:pPr marL="0" indent="0">
              <a:spcAft>
                <a:spcPts val="400"/>
              </a:spcAft>
              <a:buNone/>
            </a:pPr>
            <a:r>
              <a:rPr lang="en-US" sz="1050" dirty="0">
                <a:solidFill>
                  <a:srgbClr val="1F2937"/>
                </a:solidFill>
                <a:latin typeface="Calibri" pitchFamily="34" charset="0"/>
                <a:ea typeface="Calibri" pitchFamily="34" charset="-122"/>
                <a:cs typeface="Calibri" pitchFamily="34" charset="-120"/>
              </a:rPr>
              <a:t>[6] Y. Nie, N. H. Nguyen, P. Sinthong, J. Kalagnanam. A Time Series is Worth 64 Words: Long-term Forecasting with Transformers. ICLR, 2023.</a:t>
            </a:r>
            <a:endParaRPr lang="en-US" sz="1050" dirty="0"/>
          </a:p>
          <a:p>
            <a:pPr marL="0" indent="0">
              <a:spcAft>
                <a:spcPts val="400"/>
              </a:spcAft>
              <a:buNone/>
            </a:pPr>
            <a:r>
              <a:rPr lang="en-US" sz="1050" dirty="0">
                <a:solidFill>
                  <a:srgbClr val="1F2937"/>
                </a:solidFill>
                <a:latin typeface="Calibri" pitchFamily="34" charset="0"/>
                <a:ea typeface="Calibri" pitchFamily="34" charset="-122"/>
                <a:cs typeface="Calibri" pitchFamily="34" charset="-120"/>
              </a:rPr>
              <a:t>[7] Y. Liu, T. Hu, H. Zhang, M. Wu, S. Wang, L. Ma, J. Yan. iTransformer: Inverted Transformers Are Effective for Time Series Forecasting. ICLR, 2024.</a:t>
            </a:r>
            <a:endParaRPr lang="en-US" sz="1050" dirty="0"/>
          </a:p>
        </p:txBody>
      </p:sp>
      <p:sp>
        <p:nvSpPr>
          <p:cNvPr id="4" name="Text 2"/>
          <p:cNvSpPr txBox="1"/>
          <p:nvPr/>
        </p:nvSpPr>
        <p:spPr>
          <a:xfrm>
            <a:off x="4663440" y="1051560"/>
            <a:ext cx="4023360" cy="3611880"/>
          </a:xfrm>
          <a:prstGeom prst="rect">
            <a:avLst/>
          </a:prstGeom>
          <a:noFill/>
          <a:ln/>
        </p:spPr>
        <p:txBody>
          <a:bodyPr wrap="square" lIns="0" tIns="0" rIns="0" bIns="0" rtlCol="0" anchor="t"/>
          <a:lstStyle/>
          <a:p>
            <a:pPr marL="0" indent="0">
              <a:spcAft>
                <a:spcPts val="400"/>
              </a:spcAft>
              <a:buNone/>
            </a:pPr>
            <a:r>
              <a:rPr lang="en-US" sz="1050" dirty="0">
                <a:solidFill>
                  <a:srgbClr val="1F2937"/>
                </a:solidFill>
                <a:latin typeface="Calibri" pitchFamily="34" charset="0"/>
                <a:ea typeface="Calibri" pitchFamily="34" charset="-122"/>
                <a:cs typeface="Calibri" pitchFamily="34" charset="-120"/>
              </a:rPr>
              <a:t>[8] M. Goswami, K. Szafer, A. Choudhry, Y. Cai, S. Li, A. Dubrawski. MOMENT: A Family of Open Time-series Foundation Models. ICML, 2024.</a:t>
            </a:r>
            <a:endParaRPr lang="en-US" sz="1050" dirty="0"/>
          </a:p>
          <a:p>
            <a:pPr marL="0" indent="0">
              <a:spcAft>
                <a:spcPts val="400"/>
              </a:spcAft>
              <a:buNone/>
            </a:pPr>
            <a:r>
              <a:rPr lang="en-US" sz="1050" dirty="0">
                <a:solidFill>
                  <a:srgbClr val="1F2937"/>
                </a:solidFill>
                <a:latin typeface="Calibri" pitchFamily="34" charset="0"/>
                <a:ea typeface="Calibri" pitchFamily="34" charset="-122"/>
                <a:cs typeface="Calibri" pitchFamily="34" charset="-120"/>
              </a:rPr>
              <a:t>[9] S. Yeom, I. Giacomelli, M. Fredrikson, S. Jha. Privacy Risk in Machine Learning: Analyzing the Connection to Overfitting. IEEE CSF, 2018.</a:t>
            </a:r>
            <a:endParaRPr lang="en-US" sz="1050" dirty="0"/>
          </a:p>
          <a:p>
            <a:pPr marL="0" indent="0">
              <a:spcAft>
                <a:spcPts val="400"/>
              </a:spcAft>
              <a:buNone/>
            </a:pPr>
            <a:r>
              <a:rPr lang="en-US" sz="1050" dirty="0">
                <a:solidFill>
                  <a:srgbClr val="1F2937"/>
                </a:solidFill>
                <a:latin typeface="Calibri" pitchFamily="34" charset="0"/>
                <a:ea typeface="Calibri" pitchFamily="34" charset="-122"/>
                <a:cs typeface="Calibri" pitchFamily="34" charset="-120"/>
              </a:rPr>
              <a:t>[10] L. Song, P. Mittal. Systematic Evaluation of Privacy Risks of Machine Learning Models. USENIX Security, 2021.</a:t>
            </a:r>
            <a:endParaRPr lang="en-US" sz="1050" dirty="0"/>
          </a:p>
          <a:p>
            <a:pPr marL="0" indent="0">
              <a:spcAft>
                <a:spcPts val="400"/>
              </a:spcAft>
              <a:buNone/>
            </a:pPr>
            <a:r>
              <a:rPr lang="en-US" sz="1050" dirty="0">
                <a:solidFill>
                  <a:srgbClr val="1F2937"/>
                </a:solidFill>
                <a:latin typeface="Calibri" pitchFamily="34" charset="0"/>
                <a:ea typeface="Calibri" pitchFamily="34" charset="-122"/>
                <a:cs typeface="Calibri" pitchFamily="34" charset="-120"/>
              </a:rPr>
              <a:t>[11] L. Watson, C. Guo, G. Cormode, A. Sablayrolles. On the Importance of Difficulty Calibration in Membership Inference Attacks. ICLR, 2022.</a:t>
            </a:r>
            <a:endParaRPr lang="en-US" sz="1050" dirty="0"/>
          </a:p>
          <a:p>
            <a:pPr marL="0" indent="0">
              <a:spcAft>
                <a:spcPts val="400"/>
              </a:spcAft>
              <a:buNone/>
            </a:pPr>
            <a:r>
              <a:rPr lang="en-US" sz="1050" dirty="0">
                <a:solidFill>
                  <a:srgbClr val="1F2937"/>
                </a:solidFill>
                <a:latin typeface="Calibri" pitchFamily="34" charset="0"/>
                <a:ea typeface="Calibri" pitchFamily="34" charset="-122"/>
                <a:cs typeface="Calibri" pitchFamily="34" charset="-120"/>
              </a:rPr>
              <a:t>[12] S. Zarifzadeh, P. Liu, R. Shokri. RMIA: Low-Cost, High-Fidelity Membership Inference Attacks. ICML, 2024.</a:t>
            </a:r>
            <a:endParaRPr lang="en-US" sz="1050" dirty="0"/>
          </a:p>
          <a:p>
            <a:pPr marL="0" indent="0">
              <a:spcAft>
                <a:spcPts val="400"/>
              </a:spcAft>
              <a:buNone/>
            </a:pPr>
            <a:r>
              <a:rPr lang="en-US" sz="1050" dirty="0">
                <a:solidFill>
                  <a:srgbClr val="1F2937"/>
                </a:solidFill>
                <a:latin typeface="Calibri" pitchFamily="34" charset="0"/>
                <a:ea typeface="Calibri" pitchFamily="34" charset="-122"/>
                <a:cs typeface="Calibri" pitchFamily="34" charset="-120"/>
              </a:rPr>
              <a:t>[13] M. Koren, R. Moshe, K. Bar, L. Rokach. Membership Inference Attacks on Time Series Classification Models. ACML, 2024.</a:t>
            </a:r>
            <a:endParaRPr lang="en-US" sz="1050" dirty="0"/>
          </a:p>
        </p:txBody>
      </p:sp>
      <p:sp>
        <p:nvSpPr>
          <p:cNvPr id="25" name="Slide Number Placeholder 0"/>
          <p:cNvSpPr>
            <a:spLocks noGrp="1"/>
          </p:cNvSpPr>
          <p:nvPr>
            <p:ph type="sldNum" sz="quarter" idx="4294967295"/>
          </p:nvPr>
        </p:nvSpPr>
        <p:spPr>
          <a:xfrm>
            <a:off x="8229600" y="4773168"/>
            <a:ext cx="548640" cy="274320"/>
          </a:xfrm>
          <a:prstGeom prst="rect">
            <a:avLst/>
          </a:prstGeom>
          <a:extLst>
            <a:ext uri="{C572A759-6A51-4108-AA02-DFA0A04FC94B}">
              <ma14:wrappingTextBoxFlag xmlns:ma14="http://schemas.microsoft.com/office/mac/drawingml/2011/main" xmlns="" val="0"/>
            </a:ext>
          </a:extLst>
        </p:spPr>
        <p:txBody>
          <a:bodyPr/>
          <a:lstStyle>
            <a:lvl1pPr>
              <a:defRPr sz="1200">
                <a:solidFill>
                  <a:srgbClr val="6B7280"/>
                </a:solidFill>
                <a:latin typeface="Calibri"/>
                <a:ea typeface="Calibri"/>
                <a:cs typeface="Calibri"/>
              </a:defRPr>
            </a:lvl1pPr>
          </a:lstStyle>
          <a:p>
            <a:pPr algn="r"/>
            <a:fld id="{F7021451-1387-4CA6-816F-3879F97B5CBC}" type="slidenum">
              <a:rPr lang="en-US" b="0"/>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txBox="1"/>
          <p:nvPr/>
        </p:nvSpPr>
        <p:spPr>
          <a:xfrm>
            <a:off x="731520" y="1645920"/>
            <a:ext cx="7680960" cy="914400"/>
          </a:xfrm>
          <a:prstGeom prst="rect">
            <a:avLst/>
          </a:prstGeom>
          <a:noFill/>
          <a:ln/>
        </p:spPr>
        <p:txBody>
          <a:bodyPr wrap="square" lIns="0" tIns="0" rIns="0" bIns="0" rtlCol="0" anchor="ctr"/>
          <a:lstStyle/>
          <a:p>
            <a:pPr marL="0" indent="0">
              <a:buNone/>
            </a:pPr>
            <a:r>
              <a:rPr lang="en-US" sz="4000" b="1" dirty="0">
                <a:solidFill>
                  <a:srgbClr val="0B2545"/>
                </a:solidFill>
                <a:latin typeface="Cambria" pitchFamily="34" charset="0"/>
                <a:ea typeface="Cambria" pitchFamily="34" charset="-122"/>
                <a:cs typeface="Cambria" pitchFamily="34" charset="-120"/>
              </a:rPr>
              <a:t>Cảm ơn thầy cô và các bạn</a:t>
            </a:r>
            <a:endParaRPr lang="en-US" sz="4000" dirty="0"/>
          </a:p>
        </p:txBody>
      </p:sp>
      <p:sp>
        <p:nvSpPr>
          <p:cNvPr id="3" name="Text 1"/>
          <p:cNvSpPr txBox="1"/>
          <p:nvPr/>
        </p:nvSpPr>
        <p:spPr>
          <a:xfrm>
            <a:off x="731520" y="2651760"/>
            <a:ext cx="7680960" cy="640080"/>
          </a:xfrm>
          <a:prstGeom prst="rect">
            <a:avLst/>
          </a:prstGeom>
          <a:noFill/>
          <a:ln/>
        </p:spPr>
        <p:txBody>
          <a:bodyPr wrap="square" lIns="0" tIns="0" rIns="0" bIns="0" rtlCol="0" anchor="ctr"/>
          <a:lstStyle/>
          <a:p>
            <a:pPr marL="0" indent="0">
              <a:buNone/>
            </a:pPr>
            <a:r>
              <a:rPr lang="en-US" sz="2800" b="1" dirty="0">
                <a:solidFill>
                  <a:srgbClr val="E4572E"/>
                </a:solidFill>
                <a:latin typeface="Calibri" pitchFamily="34" charset="0"/>
                <a:ea typeface="Calibri" pitchFamily="34" charset="-122"/>
                <a:cs typeface="Calibri" pitchFamily="34" charset="-120"/>
              </a:rPr>
              <a:t>Hỏi đáp</a:t>
            </a:r>
            <a:endParaRPr lang="en-US" sz="2800" dirty="0"/>
          </a:p>
        </p:txBody>
      </p:sp>
      <p:sp>
        <p:nvSpPr>
          <p:cNvPr id="25" name="Slide Number Placeholder 0"/>
          <p:cNvSpPr>
            <a:spLocks noGrp="1"/>
          </p:cNvSpPr>
          <p:nvPr>
            <p:ph type="sldNum" sz="quarter" idx="4294967295"/>
          </p:nvPr>
        </p:nvSpPr>
        <p:spPr>
          <a:xfrm>
            <a:off x="8229600" y="4773168"/>
            <a:ext cx="548640" cy="274320"/>
          </a:xfrm>
          <a:prstGeom prst="rect">
            <a:avLst/>
          </a:prstGeom>
          <a:extLst>
            <a:ext uri="{C572A759-6A51-4108-AA02-DFA0A04FC94B}">
              <ma14:wrappingTextBoxFlag xmlns:ma14="http://schemas.microsoft.com/office/mac/drawingml/2011/main" xmlns="" val="0"/>
            </a:ext>
          </a:extLst>
        </p:spPr>
        <p:txBody>
          <a:bodyPr/>
          <a:lstStyle>
            <a:lvl1pPr>
              <a:defRPr sz="1200">
                <a:solidFill>
                  <a:srgbClr val="6B7280"/>
                </a:solidFill>
                <a:latin typeface="Calibri"/>
                <a:ea typeface="Calibri"/>
                <a:cs typeface="Calibri"/>
              </a:defRPr>
            </a:lvl1pPr>
          </a:lstStyle>
          <a:p>
            <a:pPr algn="r"/>
            <a:fld id="{F7021451-1387-4CA6-816F-3879F97B5CBC}" type="slidenum">
              <a:rPr lang="en-US" b="0"/>
              <a:t>15</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45</TotalTime>
  <Words>2338</Words>
  <Application>Microsoft Macintosh PowerPoint</Application>
  <PresentationFormat>On-screen Show (16:9)</PresentationFormat>
  <Paragraphs>194</Paragraphs>
  <Slides>15</Slides>
  <Notes>15</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15</vt:i4>
      </vt:variant>
    </vt:vector>
  </HeadingPairs>
  <TitlesOfParts>
    <vt:vector size="19" baseType="lpstr">
      <vt:lpstr>Arial</vt:lpstr>
      <vt:lpstr>Calibri</vt:lpstr>
      <vt:lpstr>Cambria</vt:lpstr>
      <vt:lpstr>Office Theme</vt:lpstr>
      <vt:lpstr>PowerPoint Presentation</vt:lpstr>
      <vt:lpstr>PowerPoint Presentation</vt:lpstr>
      <vt:lpstr>Vấn đề và câu hỏi nghiên cứu</vt:lpstr>
      <vt:lpstr>Dữ liệu và thiết lập thực nghiệm</vt:lpstr>
      <vt:lpstr>Bốn họ tấn công</vt:lpstr>
      <vt:lpstr>PowerPoint Presentation</vt:lpstr>
      <vt:lpstr>Tổng quan: rò rỉ chênh nhau tới 16 lần</vt:lpstr>
      <vt:lpstr>RQ1: Kiến trúc hiện đại và baseline</vt:lpstr>
      <vt:lpstr>RQ2: Dự báo rò rỉ nhiều hơn phân loại</vt:lpstr>
      <vt:lpstr>PowerPoint Presentation</vt:lpstr>
      <vt:lpstr>Bài học cho kiểm toán quyền riêng tư</vt:lpstr>
      <vt:lpstr>Hạn chế và kết luận</vt:lpstr>
      <vt:lpstr>Phân công thành viên</vt:lpstr>
      <vt:lpstr>Tài liệu tham khảo</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MIA trên mô hình chuỗi thời gian</dc:title>
  <dc:subject>PptxGenJS Presentation</dc:subject>
  <dc:creator>Nhóm đồ án</dc:creator>
  <cp:lastModifiedBy>Ngoc (Cyrus) Le [Coffee]</cp:lastModifiedBy>
  <cp:revision>3</cp:revision>
  <dcterms:created xsi:type="dcterms:W3CDTF">2026-10-19T12:38:54Z</dcterms:created>
  <dcterms:modified xsi:type="dcterms:W3CDTF">2026-10-19T23:54:52Z</dcterms:modified>
</cp:coreProperties>
</file>